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5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22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11798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operación de mantenimiento bajo control total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4620904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· Técnicos en campo · SLA · Facturación en una sola plataforma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201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5653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· Mafort Service S.A.C.</a:t>
            </a:r>
            <a:endParaRPr lang="en-US" sz="1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C367D83-C0BC-4900-A846-1CC5B15AE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286" y="1266125"/>
            <a:ext cx="5790948" cy="24367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esta presentación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146304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E6FAF4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2024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47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9476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dolor que vive tu operación hoy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69164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947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0920" y="19476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de un vistazo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78892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E6FAF4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01752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044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30449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medible — antes y después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278892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301752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044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60920" y="30449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completo de punta a punta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88620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E6FAF4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411480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1422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41422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por el sistema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388620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411480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1422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0920" y="41422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Diferenciales competitivos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498348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E6FAF4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521208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52395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91640" y="52395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seguridad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92240" y="498348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0840" y="521208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52395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60920" y="52395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Siguientes pasos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dolor que vive tu operación hoy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3774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jornada deja pérdidas invisibles y dinero atascado en papel.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824546"/>
            <a:ext cx="10972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7882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en papel autocopiativo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7882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pierden, se mojan, se transcriben mal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537778"/>
            <a:ext cx="10972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49205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días sin conexión del técnico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49205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llegan semanas después del servicio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251010"/>
            <a:ext cx="10972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20529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a Word transcribido a mano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320529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 por OT, errores y formatos inconsistentes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964242"/>
            <a:ext cx="10972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91852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con ~30 días de retraso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91852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de caja estrangulados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677474"/>
            <a:ext cx="10972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63175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sueltas en celulares del personal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463175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trazabilidad, sin respaldo legal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5390706"/>
            <a:ext cx="10972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34498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visibilidad ni indicadores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534498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sabe qué OTs están en riesgo de SLA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5972308"/>
            <a:ext cx="1042416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943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hasta 23 días para facturar una OT y cero trazabilidad.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de un vistazo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37744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única, pensada para Mantenimiento Industrial, que cierra el ciclo completo en horas.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56032" cy="256032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8424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Formularios digitales en tablet/móvil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técnico captura todo en sitio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578608"/>
            <a:ext cx="256032" cy="256032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" y="2642616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4871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completo con auto-sync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4871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o no, el trabajo sigue y se sincroniza al regresar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36976"/>
            <a:ext cx="256032" cy="256032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4" name="Shape 12"/>
          <p:cNvSpPr/>
          <p:nvPr/>
        </p:nvSpPr>
        <p:spPr>
          <a:xfrm>
            <a:off x="978408" y="330098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314553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DOCX/PDF de 10 pág. en 1 clic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314553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corporativo Mafort, listo para cliente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895344"/>
            <a:ext cx="256032" cy="256032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" y="395935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380390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→ firma → facturación en horas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380390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servicio se comprime de 23 días a horas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553712"/>
            <a:ext cx="256032" cy="256032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22" name="Shape 20"/>
          <p:cNvSpPr/>
          <p:nvPr/>
        </p:nvSpPr>
        <p:spPr>
          <a:xfrm>
            <a:off x="978408" y="46177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44622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fotográfico estructurado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44622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por potencia kVA, impecable ante auditoría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5212080"/>
            <a:ext cx="256032" cy="256032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26" name="Shape 24"/>
          <p:cNvSpPr/>
          <p:nvPr/>
        </p:nvSpPr>
        <p:spPr>
          <a:xfrm>
            <a:off x="978408" y="527608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417320" y="5120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Kanban, alertas SLA y Copiloto 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5120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con datos reales en tiempo real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8680" y="5897880"/>
            <a:ext cx="10424160" cy="502920"/>
          </a:xfrm>
          <a:prstGeom prst="roundRect">
            <a:avLst>
              <a:gd name="adj" fmla="val 18182"/>
            </a:avLst>
          </a:prstGeom>
          <a:solidFill>
            <a:srgbClr val="06201D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943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sola plataforma digitalizas el ciclo completo de vida de la OT.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medible — antes y después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37744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E6FAF4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ciclo de servicio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23 días a horas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160020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E6FAF4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+98%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94760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SLA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tempranas automáticas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E6FAF4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 hrs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informe técnico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45 min a mano x OT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89720" y="160020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E6FAF4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372600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auditada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OT, cada firma, cada foto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794760"/>
          <a:ext cx="10469880" cy="268833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 manual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Gestia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Ciclo de servicio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días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de facturación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 días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 tras firma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Trazabilidad del proceso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auditada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Transcritos a mano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Automáticos de 10 págs.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Conectividad en campo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señal 20+ días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con sync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Visión de gestión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Hojas de cálculo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en tiempo real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completo, de punta a punta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92608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primer contacto comercial hasta la factura firmada, todo digital y rastreable.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90363"/>
            <a:ext cx="1463040" cy="960120"/>
          </a:xfrm>
          <a:prstGeom prst="roundRect">
            <a:avLst>
              <a:gd name="adj" fmla="val 14286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424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CapturaCliente y contrato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65960" y="2377440"/>
            <a:ext cx="164592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3180203"/>
            <a:ext cx="1463040" cy="960120"/>
          </a:xfrm>
          <a:prstGeom prst="roundRect">
            <a:avLst>
              <a:gd name="adj" fmla="val 14286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1992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21992" y="3474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21992" y="3840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y asignación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93592" y="3520440"/>
            <a:ext cx="164592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58184" y="2079734"/>
            <a:ext cx="1463040" cy="960120"/>
          </a:xfrm>
          <a:prstGeom prst="roundRect">
            <a:avLst>
              <a:gd name="adj" fmla="val 14286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9624" y="211056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9624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9624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en tiempo real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21224" y="2377440"/>
            <a:ext cx="164592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85816" y="3180201"/>
            <a:ext cx="1463040" cy="960120"/>
          </a:xfrm>
          <a:prstGeom prst="roundRect">
            <a:avLst>
              <a:gd name="adj" fmla="val 14286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7256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77256" y="3474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 EN CAMPO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77256" y="3840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offline 10 pasos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48856" y="3520440"/>
            <a:ext cx="164592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3448" y="2026567"/>
            <a:ext cx="1463040" cy="960120"/>
          </a:xfrm>
          <a:prstGeom prst="roundRect">
            <a:avLst>
              <a:gd name="adj" fmla="val 14286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4888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04888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y aprobación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476488" y="2377440"/>
            <a:ext cx="164592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3222735"/>
            <a:ext cx="1463040" cy="960120"/>
          </a:xfrm>
          <a:prstGeom prst="roundRect">
            <a:avLst>
              <a:gd name="adj" fmla="val 14286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32520" y="325356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32520" y="3474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3840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digital de conformidad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104120" y="3520440"/>
            <a:ext cx="164592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68712" y="2015937"/>
            <a:ext cx="1463040" cy="960120"/>
          </a:xfrm>
          <a:prstGeom prst="roundRect">
            <a:avLst>
              <a:gd name="adj" fmla="val 14286"/>
            </a:avLst>
          </a:prstGeom>
          <a:solidFill>
            <a:srgbClr val="00B594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60152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360152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360152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cobranza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68680" y="5120640"/>
            <a:ext cx="10424160" cy="118872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9525">
            <a:solidFill>
              <a:srgbClr val="BDEB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una sola plataforma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43000" y="56692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paso queda registrado: quién, cuándo, dónde y con qué evidencia. Nada se pierde, todo se audita. El cliente recibe su informe en horas —no en semanas— y la factura se emite al día siguiente de la firma.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Acceso seguro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00-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seguro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punto de entrada con autenticación JWT y control de acceso por rol.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Dashboard en tiempo real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01-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en tiempo real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por rol, pipeline Kanban, alertas SLA, carga de técnicos y Copiloto IA.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Comercial — CRM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02-comercial-cr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— CRM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Clientes, contratos comerciales, adendas y equipos vinculados en un solo lugar.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Ficha del contrato y adendas</a:t>
            </a:r>
            <a:endParaRPr lang="en-US" sz="1700" dirty="0"/>
          </a:p>
        </p:txBody>
      </p:sp>
      <p:pic>
        <p:nvPicPr>
          <p:cNvPr id="5" name="Image 0" descr="C:/Informes Mafort IA/public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18520" y="137160"/>
            <a:ext cx="914400" cy="640080"/>
          </a:xfrm>
          <a:prstGeom prst="rect">
            <a:avLst/>
          </a:prstGeom>
        </p:spPr>
      </p:pic>
      <p:pic>
        <p:nvPicPr>
          <p:cNvPr id="6" name="Image 1" descr="C:\Informes Mafort IA\Documentacion\presentaciones\capturas\12-contrato-detalle-adenda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del contrato y adendas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del contrato con historial de ampliaciones que incrementan el presupuesto.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Registro de adenda</a:t>
            </a:r>
            <a:endParaRPr lang="en-US" sz="1700" dirty="0"/>
          </a:p>
        </p:txBody>
      </p:sp>
      <p:pic>
        <p:nvPicPr>
          <p:cNvPr id="5" name="Image 0" descr="C:/Informes Mafort IA/public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18520" y="137160"/>
            <a:ext cx="914400" cy="640080"/>
          </a:xfrm>
          <a:prstGeom prst="rect">
            <a:avLst/>
          </a:prstGeom>
        </p:spPr>
      </p:pic>
      <p:pic>
        <p:nvPicPr>
          <p:cNvPr id="6" name="Image 1" descr="C:\Informes Mafort IA\Documentacion\presentaciones\capturas\13-adenda-mod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adenda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para ampliar un contrato: monto, vigencia, comentarios y equipos.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Gestión de OTs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03-gestion-o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OTs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de trabajo con SLA, 10 estados y vista tabla / Kanban.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Operaciones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04-operacion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de visitas y monitoreo de técnicos en campo.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Inventario de Equipos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05-inventario-equip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Equipos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con historial de servicios y alertas de próximo mantenimiento.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Portal del Técnico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06-tecnico-camp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del Técnico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Bandeja de visitas y wizard de informe técnico de 10 pasos, 100% offline.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Portal de Supervisión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07-supervis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 Supervisión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Revisión, aprobación y observación de reportes con historial completo.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Portal de Ventas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08-portal-venta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 Ventas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comercial, facturación y reportes PDF/DOCX automáticos.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Portal del Cliente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09-portal-clien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del Cliente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digital de conformidad en canvas multi-touch, sin papel.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Administración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10-administrac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Usuarios, roles, módulos permitidos y auditoría en pocos clics.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Contratos comerciales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11-contrat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comerciales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 de contratos con vigencia, responsable, consumo/saldo y estado.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Informe técnico — Resumen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14-informe-tecnico-resum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técnico — Resumen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del reporte del técnico con datos, mediciones y evidencias.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Informe técnico — Vista impresa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15-informe-tecnico-pre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técnico — Vista impresa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210312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3317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Previsualización del documento corporativo de 10 páginas, listo para enviar.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 ·  Onboarding con guía interactiva</a:t>
            </a:r>
            <a:endParaRPr lang="en-US" sz="1700" dirty="0"/>
          </a:p>
        </p:txBody>
      </p:sp>
      <p:pic>
        <p:nvPicPr>
          <p:cNvPr id="6" name="Image 1" descr="C:\Informes Mafort IA\Documentacion\presentaciones\capturas\16-guia-interactiv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43000"/>
            <a:ext cx="88696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5480" y="1280160"/>
            <a:ext cx="2240280" cy="4709160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8408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 acelerada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784080" y="1965960"/>
            <a:ext cx="731520" cy="4572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6"/>
          <p:cNvSpPr/>
          <p:nvPr/>
        </p:nvSpPr>
        <p:spPr>
          <a:xfrm>
            <a:off x="9784080" y="219456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guiado interactivo (Driver.js) que resalta paso a paso cada módulo del sistema, acelerando la curva de aprendizaje de cada nuevo usuario.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784080" y="4663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28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manuales aburridos: el sistema mismo enseña a usarse.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Diferenciales que marcan la diferencia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74320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91640"/>
            <a:ext cx="2697480" cy="1874520"/>
          </a:xfrm>
          <a:prstGeom prst="roundRect">
            <a:avLst>
              <a:gd name="adj" fmla="val 878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47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Offline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Trabajoontinuo sin señal, con sync automática.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97480" cy="1874520"/>
          </a:xfrm>
          <a:prstGeom prst="roundRect">
            <a:avLst>
              <a:gd name="adj" fmla="val 878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920240"/>
            <a:ext cx="502920" cy="5029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947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33672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Wizard inteligente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93592" y="25603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de 10 pasos validados por potencia kVA.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27064" y="1691640"/>
            <a:ext cx="2697480" cy="1874520"/>
          </a:xfrm>
          <a:prstGeom prst="roundRect">
            <a:avLst>
              <a:gd name="adj" fmla="val 878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920240"/>
            <a:ext cx="502920" cy="5029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947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95744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digital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55664" y="25603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 del cliente en pizarra multi-touch, sin papel.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89136" y="1691640"/>
            <a:ext cx="2697480" cy="1874520"/>
          </a:xfrm>
          <a:prstGeom prst="roundRect">
            <a:avLst>
              <a:gd name="adj" fmla="val 878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17736" y="1920240"/>
            <a:ext cx="502920" cy="5029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21" name="Text 19"/>
          <p:cNvSpPr/>
          <p:nvPr/>
        </p:nvSpPr>
        <p:spPr>
          <a:xfrm>
            <a:off x="9317736" y="1947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57816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PDF/DOCX corporativo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17736" y="25603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10 páginas con el formato oficial Mafort.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840480"/>
            <a:ext cx="2697480" cy="1874520"/>
          </a:xfrm>
          <a:prstGeom prst="roundRect">
            <a:avLst>
              <a:gd name="adj" fmla="val 878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965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114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Copiloto IA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en lenguaje natural sobre datos reales del negocio.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3840480"/>
            <a:ext cx="2697480" cy="1874520"/>
          </a:xfrm>
          <a:prstGeom prst="roundRect">
            <a:avLst>
              <a:gd name="adj" fmla="val 878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93592" y="4069080"/>
            <a:ext cx="502920" cy="5029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31" name="Text 29"/>
          <p:cNvSpPr/>
          <p:nvPr/>
        </p:nvSpPr>
        <p:spPr>
          <a:xfrm>
            <a:off x="3593592" y="40965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233672" y="4114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automatizado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93592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tempranas de incumplimiento, antes de que escalen.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27064" y="3840480"/>
            <a:ext cx="2697480" cy="1874520"/>
          </a:xfrm>
          <a:prstGeom prst="roundRect">
            <a:avLst>
              <a:gd name="adj" fmla="val 878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5664" y="4069080"/>
            <a:ext cx="502920" cy="5029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40965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95744" y="4114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interactiva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55664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guiado que acelera la adopción de cada nuevo usuario.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89136" y="3840480"/>
            <a:ext cx="2697480" cy="1874520"/>
          </a:xfrm>
          <a:prstGeom prst="roundRect">
            <a:avLst>
              <a:gd name="adj" fmla="val 878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17736" y="4069080"/>
            <a:ext cx="502920" cy="5029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41" name="Text 39"/>
          <p:cNvSpPr/>
          <p:nvPr/>
        </p:nvSpPr>
        <p:spPr>
          <a:xfrm>
            <a:off x="9317736" y="40965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957816" y="4114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VIP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317736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y acompañamiento en la puesta en marcha.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seguridad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74320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06201D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938528"/>
            <a:ext cx="274320" cy="2743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Beanstalk + S3 + RDS PostgreSQL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06201D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47688" y="1938528"/>
            <a:ext cx="274320" cy="2743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JWT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 por rol (RBAC)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65176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06201D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2898648"/>
            <a:ext cx="274320" cy="2743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2788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cifrados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3063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reposo y en tránsito (TLS/SSL)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265176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06201D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7688" y="2898648"/>
            <a:ext cx="274320" cy="2743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788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instalable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3063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móviles y tablets, acceso directo desde el hogar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36118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06201D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3858768"/>
            <a:ext cx="274320" cy="2743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3749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como código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+ CI/CD automático, despliegues reproducibles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36118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06201D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47688" y="3858768"/>
            <a:ext cx="274320" cy="27432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3749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diarios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automated snapshots + point-in-time recovery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8680" y="5897880"/>
            <a:ext cx="10424160" cy="502920"/>
          </a:xfrm>
          <a:prstGeom prst="roundRect">
            <a:avLst>
              <a:gd name="adj" fmla="val 18182"/>
            </a:avLst>
          </a:prstGeom>
          <a:solidFill>
            <a:srgbClr val="00B594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943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escalar: del técnico en campo al corporativo, sin rediseñar nada.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retorno de invertir en Gestia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74320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10424160" cy="777240"/>
          </a:xfrm>
          <a:prstGeom prst="roundRect">
            <a:avLst>
              <a:gd name="adj" fmla="val 14118"/>
            </a:avLst>
          </a:prstGeom>
          <a:solidFill>
            <a:srgbClr val="E6FAF4"/>
          </a:solidFill>
          <a:ln w="6350">
            <a:solidFill>
              <a:srgbClr val="BDEB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164592" cy="77724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828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operativo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horas administrativas y cero reprisar por errores de transcripción.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10424160" cy="777240"/>
          </a:xfrm>
          <a:prstGeom prst="roundRect">
            <a:avLst>
              <a:gd name="adj" fmla="val 14118"/>
            </a:avLst>
          </a:prstGeom>
          <a:solidFill>
            <a:srgbClr val="F1F5F9"/>
          </a:solidFill>
          <a:ln w="6350">
            <a:solidFill>
              <a:srgbClr val="BDEB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51760"/>
            <a:ext cx="164592" cy="77724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743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caja sano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en horas, no en 30 días. Liberás capital atrapado.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566160"/>
            <a:ext cx="10424160" cy="777240"/>
          </a:xfrm>
          <a:prstGeom prst="roundRect">
            <a:avLst>
              <a:gd name="adj" fmla="val 14118"/>
            </a:avLst>
          </a:prstGeom>
          <a:solidFill>
            <a:srgbClr val="E6FAF4"/>
          </a:solidFill>
          <a:ln w="6350">
            <a:solidFill>
              <a:srgbClr val="BDEB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566160"/>
            <a:ext cx="164592" cy="77724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657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pérdida de evidencia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OT queda registrada con fotos, firma y trazabilidad legal.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480560"/>
            <a:ext cx="10424160" cy="777240"/>
          </a:xfrm>
          <a:prstGeom prst="roundRect">
            <a:avLst>
              <a:gd name="adj" fmla="val 14118"/>
            </a:avLst>
          </a:prstGeom>
          <a:solidFill>
            <a:srgbClr val="F1F5F9"/>
          </a:solidFill>
          <a:ln w="6350">
            <a:solidFill>
              <a:srgbClr val="BDEB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480560"/>
            <a:ext cx="164592" cy="77724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572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con datos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45720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en tiempo real, alertas anticipadas y Copiloto IA.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5394960"/>
            <a:ext cx="10424160" cy="777240"/>
          </a:xfrm>
          <a:prstGeom prst="roundRect">
            <a:avLst>
              <a:gd name="adj" fmla="val 14118"/>
            </a:avLst>
          </a:prstGeom>
          <a:solidFill>
            <a:srgbClr val="E6FAF4"/>
          </a:solidFill>
          <a:ln w="6350">
            <a:solidFill>
              <a:srgbClr val="BDEB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394960"/>
            <a:ext cx="164592" cy="777240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5486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Escalable sin renuncias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54864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 a N sucursales, sin rediseñar procesos ni sistemas.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6355080"/>
            <a:ext cx="10424160" cy="0"/>
          </a:xfrm>
          <a:prstGeom prst="roundRect">
            <a:avLst/>
          </a:prstGeom>
          <a:solidFill>
            <a:srgbClr val="00B594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 · Mafort Service S.A.C.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B5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6201D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Listos para transformar la operación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Cuanto antes arranques, antes empieza el ahorro.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297680" y="4023360"/>
            <a:ext cx="356616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97680" y="4114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Solicitar demostración en vivo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Mafort Service S.A.C.  ·  Gestia — la operación de mantenimiento bajo control total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Contacto: Juan Carlos Córdova  ·  Mafort Service S.A.C.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201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1592</Words>
  <Application>Microsoft Office PowerPoint</Application>
  <PresentationFormat>Personalizado</PresentationFormat>
  <Paragraphs>309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Mafort Service S.A.C.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Gestia — Presentación Ejecutiva</dc:title>
  <dc:subject>Plataforma de gestión de servicios de campo</dc:subject>
  <dc:creator>Mafort Service S.A.C.</dc:creator>
  <cp:lastModifiedBy>Juan Cordova</cp:lastModifiedBy>
  <cp:revision>7</cp:revision>
  <dcterms:created xsi:type="dcterms:W3CDTF">2026-08-16T15:05:07Z</dcterms:created>
  <dcterms:modified xsi:type="dcterms:W3CDTF">2026-08-16T16:58:50Z</dcterms:modified>
</cp:coreProperties>
</file>