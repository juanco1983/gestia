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7905" autoAdjust="0"/>
    <p:restoredTop sz="86410" autoAdjust="0"/>
  </p:normalViewPr>
  <p:slideViewPr>
    <p:cSldViewPr snapToGrid="0" snapToObjects="1">
      <p:cViewPr varScale="1">
        <p:scale>
          <a:sx n="78" d="100"/>
          <a:sy n="78" d="100"/>
        </p:scale>
        <p:origin x="1392" y="114"/>
      </p:cViewPr>
      <p:guideLst/>
    </p:cSldViewPr>
  </p:slideViewPr>
  <p:outlineViewPr>
    <p:cViewPr>
      <p:scale>
        <a:sx n="33" d="100"/>
        <a:sy n="33" d="100"/>
      </p:scale>
      <p:origin x="0" y="-19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0878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0E6A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FF6B4A">
              <a:alpha val="8000"/>
            </a:srgbClr>
          </a:solidFill>
          <a:ln/>
        </p:spPr>
      </p:sp>
      <p:pic>
        <p:nvPicPr>
          <p:cNvPr id="4" name="Image 0" descr="/home/claude/work/build/medi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5836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0350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316736" y="12435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INTELIGENTE DE SERVICIOS DE CAMPO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28803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operación de mantenimiento bajo control total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Ventas, técnicos en campo, SLA y facturación — unificados en una sola plataforma, de punta a punta.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6928" y="5989320"/>
            <a:ext cx="1920240" cy="0"/>
          </a:xfrm>
          <a:prstGeom prst="line">
            <a:avLst/>
          </a:prstGeom>
          <a:noFill/>
          <a:ln w="25400">
            <a:solidFill>
              <a:srgbClr val="00E6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108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Mafort Service S.A.C.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uild/medi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3871" y="457200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669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66928" y="1572768"/>
            <a:ext cx="5257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86384" y="1755648"/>
            <a:ext cx="530352" cy="530352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6" name="Image 1" descr="/home/claude/work/build/icons/FiAlertCircle_emera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668" y="1882932"/>
            <a:ext cx="275783" cy="2757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6384" y="16276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481328" y="1572768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 operativo actual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144768" y="1572768"/>
            <a:ext cx="5257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364224" y="1755648"/>
            <a:ext cx="530352" cy="530352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1" name="Image 2" descr="/home/claude/work/build/icons/FiGrid_emera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1508" y="1882932"/>
            <a:ext cx="275783" cy="2757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64224" y="16276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059168" y="1572768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Gestia de un vistazo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66928" y="2670048"/>
            <a:ext cx="5257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86384" y="2852928"/>
            <a:ext cx="530352" cy="530352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6" name="Image 3" descr="/home/claude/work/build/icons/FiBarChart2_emera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668" y="2980212"/>
            <a:ext cx="275783" cy="27578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6384" y="27249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481328" y="2670048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medible — antes y después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144768" y="2670048"/>
            <a:ext cx="5257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364224" y="2852928"/>
            <a:ext cx="530352" cy="530352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1" name="Image 4" descr="/home/claude/work/build/icons/FiGitBranch_emera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1508" y="2980212"/>
            <a:ext cx="275783" cy="27578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64224" y="27249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7059168" y="2670048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completo, de punta a punta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566928" y="3767328"/>
            <a:ext cx="5257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86384" y="3950208"/>
            <a:ext cx="530352" cy="530352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6" name="Image 5" descr="/home/claude/work/build/icons/FiMonitor_emera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668" y="4077492"/>
            <a:ext cx="275783" cy="27578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86384" y="38221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481328" y="3767328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por las pantallas del sistema</a:t>
            </a:r>
            <a:endParaRPr lang="en-US" sz="1450" dirty="0"/>
          </a:p>
        </p:txBody>
      </p:sp>
      <p:sp>
        <p:nvSpPr>
          <p:cNvPr id="29" name="Shape 21"/>
          <p:cNvSpPr/>
          <p:nvPr/>
        </p:nvSpPr>
        <p:spPr>
          <a:xfrm>
            <a:off x="6144768" y="3767328"/>
            <a:ext cx="5257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364224" y="3950208"/>
            <a:ext cx="530352" cy="530352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31" name="Image 6" descr="/home/claude/work/build/icons/FiStar_emera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1508" y="4077492"/>
            <a:ext cx="275783" cy="275783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364224" y="38221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7059168" y="3767328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Diferenciales competitivos</a:t>
            </a:r>
            <a:endParaRPr lang="en-US" sz="1450" dirty="0"/>
          </a:p>
        </p:txBody>
      </p:sp>
      <p:sp>
        <p:nvSpPr>
          <p:cNvPr id="34" name="Shape 25"/>
          <p:cNvSpPr/>
          <p:nvPr/>
        </p:nvSpPr>
        <p:spPr>
          <a:xfrm>
            <a:off x="566928" y="4864608"/>
            <a:ext cx="5257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2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786384" y="5047488"/>
            <a:ext cx="530352" cy="530352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36" name="Image 7" descr="/home/claude/work/build/icons/FiShield_emera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3668" y="5174772"/>
            <a:ext cx="275783" cy="275783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86384" y="491947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481328" y="4864608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seguridad</a:t>
            </a:r>
            <a:endParaRPr lang="en-US" sz="1450" dirty="0"/>
          </a:p>
        </p:txBody>
      </p:sp>
      <p:sp>
        <p:nvSpPr>
          <p:cNvPr id="39" name="Shape 29"/>
          <p:cNvSpPr/>
          <p:nvPr/>
        </p:nvSpPr>
        <p:spPr>
          <a:xfrm>
            <a:off x="6144768" y="4864608"/>
            <a:ext cx="5257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2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6364224" y="5047488"/>
            <a:ext cx="530352" cy="530352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41" name="Image 8" descr="/home/claude/work/build/icons/FiArrowRightCircle_emera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1508" y="5174772"/>
            <a:ext cx="275783" cy="275783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364224" y="491947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3" name="Text 32"/>
          <p:cNvSpPr/>
          <p:nvPr/>
        </p:nvSpPr>
        <p:spPr>
          <a:xfrm>
            <a:off x="7059168" y="4864608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Siguientes pasos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4572000" cy="4572000"/>
          </a:xfrm>
          <a:prstGeom prst="ellipse">
            <a:avLst/>
          </a:prstGeom>
          <a:solidFill>
            <a:srgbClr val="FF6B4A">
              <a:alpha val="10000"/>
            </a:srgbClr>
          </a:solidFill>
          <a:ln/>
        </p:spPr>
      </p:sp>
      <p:pic>
        <p:nvPicPr>
          <p:cNvPr id="3" name="Image 0" descr="/home/claude/work/build/medi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3871" y="45720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desafío operativo actual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Gestia, así se veía el día a día: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512064" cy="512064"/>
          </a:xfrm>
          <a:prstGeom prst="ellipse">
            <a:avLst/>
          </a:prstGeom>
          <a:solidFill>
            <a:srgbClr val="121B2E"/>
          </a:solidFill>
          <a:ln/>
        </p:spPr>
      </p:sp>
      <p:pic>
        <p:nvPicPr>
          <p:cNvPr id="7" name="Image 1" descr="/home/claude/work/build/icons/FiFileText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" y="1997415"/>
            <a:ext cx="266273" cy="2662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81965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técnicas en papel autocopiativo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144768" y="1874520"/>
            <a:ext cx="512064" cy="512064"/>
          </a:xfrm>
          <a:prstGeom prst="ellipse">
            <a:avLst/>
          </a:prstGeom>
          <a:solidFill>
            <a:srgbClr val="121B2E"/>
          </a:solidFill>
          <a:ln/>
        </p:spPr>
      </p:sp>
      <p:pic>
        <p:nvPicPr>
          <p:cNvPr id="10" name="Image 2" descr="/home/claude/work/build/icons/FiWifiOff_c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663" y="1997415"/>
            <a:ext cx="266273" cy="2662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8000" y="181965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Técnicos sin conexión durante 20+ días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566928" y="2971800"/>
            <a:ext cx="512064" cy="512064"/>
          </a:xfrm>
          <a:prstGeom prst="ellipse">
            <a:avLst/>
          </a:prstGeom>
          <a:solidFill>
            <a:srgbClr val="121B2E"/>
          </a:solidFill>
          <a:ln/>
        </p:spPr>
      </p:sp>
      <p:pic>
        <p:nvPicPr>
          <p:cNvPr id="13" name="Image 3" descr="/home/claude/work/build/icons/FiEdit3_cor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823" y="3094695"/>
            <a:ext cx="266273" cy="2662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291693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manual a Word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144768" y="2971800"/>
            <a:ext cx="512064" cy="512064"/>
          </a:xfrm>
          <a:prstGeom prst="ellipse">
            <a:avLst/>
          </a:prstGeom>
          <a:solidFill>
            <a:srgbClr val="121B2E"/>
          </a:solidFill>
          <a:ln/>
        </p:spPr>
      </p:sp>
      <p:pic>
        <p:nvPicPr>
          <p:cNvPr id="16" name="Image 4" descr="/home/claude/work/build/icons/FiClock_cor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7663" y="3094695"/>
            <a:ext cx="266273" cy="26627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58000" y="291693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con ~30 días de retraso</a:t>
            </a:r>
            <a:endParaRPr lang="en-US" sz="1450" dirty="0"/>
          </a:p>
        </p:txBody>
      </p:sp>
      <p:sp>
        <p:nvSpPr>
          <p:cNvPr id="18" name="Shape 11"/>
          <p:cNvSpPr/>
          <p:nvPr/>
        </p:nvSpPr>
        <p:spPr>
          <a:xfrm>
            <a:off x="566928" y="4069080"/>
            <a:ext cx="512064" cy="512064"/>
          </a:xfrm>
          <a:prstGeom prst="ellipse">
            <a:avLst/>
          </a:prstGeom>
          <a:solidFill>
            <a:srgbClr val="121B2E"/>
          </a:solidFill>
          <a:ln/>
        </p:spPr>
      </p:sp>
      <p:pic>
        <p:nvPicPr>
          <p:cNvPr id="19" name="Image 5" descr="/home/claude/work/build/icons/FiCamera_cor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823" y="4191975"/>
            <a:ext cx="266273" cy="26627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80160" y="401421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sueltas en celulares del personal</a:t>
            </a:r>
            <a:endParaRPr lang="en-US" sz="1450" dirty="0"/>
          </a:p>
        </p:txBody>
      </p:sp>
      <p:sp>
        <p:nvSpPr>
          <p:cNvPr id="21" name="Shape 13"/>
          <p:cNvSpPr/>
          <p:nvPr/>
        </p:nvSpPr>
        <p:spPr>
          <a:xfrm>
            <a:off x="6144768" y="4069080"/>
            <a:ext cx="512064" cy="512064"/>
          </a:xfrm>
          <a:prstGeom prst="ellipse">
            <a:avLst/>
          </a:prstGeom>
          <a:solidFill>
            <a:srgbClr val="121B2E"/>
          </a:solidFill>
          <a:ln/>
        </p:spPr>
      </p:sp>
      <p:pic>
        <p:nvPicPr>
          <p:cNvPr id="22" name="Image 6" descr="/home/claude/work/build/icons/FiAlertCircle_co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7663" y="4191975"/>
            <a:ext cx="266273" cy="26627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58000" y="401421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ni indicadores</a:t>
            </a:r>
            <a:endParaRPr lang="en-US" sz="1450" dirty="0"/>
          </a:p>
        </p:txBody>
      </p:sp>
      <p:sp>
        <p:nvSpPr>
          <p:cNvPr id="24" name="Shape 15"/>
          <p:cNvSpPr/>
          <p:nvPr/>
        </p:nvSpPr>
        <p:spPr>
          <a:xfrm>
            <a:off x="566928" y="5806440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795528" y="5806440"/>
            <a:ext cx="106006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100% manual, sin visibilidad en tiempo real y con dinero atascado en papel.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uild/medi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3871" y="457200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Gestia de un vistazo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66928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única que digitaliza todo el ciclo de vida de la OT.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66928" y="18745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130552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7" name="Image 1" descr="/home/claude/work/build/icons/FiSmartphone_emera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55" y="2253447"/>
            <a:ext cx="266273" cy="2662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2770632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digitales desde tablet o móvil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251960" y="18745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507992" y="2130552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1" name="Image 2" descr="/home/claude/work/build/icons/FiRefreshCw_emera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887" y="2253447"/>
            <a:ext cx="266273" cy="2662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07992" y="2770632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offline completo con auto-sincronización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936992" y="18745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8193024" y="2130552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5" name="Image 3" descr="/home/claude/work/build/icons/FiFileText_emera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5919" y="2253447"/>
            <a:ext cx="266273" cy="26627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93024" y="2770632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DOCX/PDF automáticos de alta fidelidad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66928" y="37033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22960" y="3959352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9" name="Image 4" descr="/home/claude/work/build/icons/FiGitBranch_emera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855" y="4082247"/>
            <a:ext cx="266273" cy="26627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2960" y="4599432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campo → revisión → firma → facturación en horas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4251960" y="37033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507992" y="3959352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3" name="Image 5" descr="/home/claude/work/build/icons/FiCamera_emera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0887" y="4082247"/>
            <a:ext cx="266273" cy="26627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507992" y="4599432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fotográfico estructurado por potencia kVA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7936992" y="370332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8193024" y="3959352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7" name="Image 6" descr="/home/claude/work/build/icons/FiActivity_emera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5919" y="4082247"/>
            <a:ext cx="266273" cy="266273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193024" y="4599432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pipeline Kanban, alertas SLA y Copiloto IA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uild/medi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3871" y="457200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medible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66928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vs. después de implementar Gestia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66928" y="18745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servicio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47288" y="187452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30168" y="187452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días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76288" y="2075688"/>
            <a:ext cx="347472" cy="347472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9" name="Image 1" descr="/home/claude/work/build/icons/FiArrowRightCircle_emera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308" y="2141708"/>
            <a:ext cx="215433" cy="21543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516368" y="187452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0B1220"/>
          </a:solidFill>
          <a:ln/>
        </p:spPr>
      </p:sp>
      <p:sp>
        <p:nvSpPr>
          <p:cNvPr id="11" name="Text 7"/>
          <p:cNvSpPr/>
          <p:nvPr/>
        </p:nvSpPr>
        <p:spPr>
          <a:xfrm>
            <a:off x="7699248" y="187452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66928" y="271576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facturación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447288" y="2715768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30168" y="271576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días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876288" y="2916936"/>
            <a:ext cx="347472" cy="347472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6" name="Image 2" descr="/home/claude/work/build/icons/FiArrowRightCircle_emera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308" y="2982956"/>
            <a:ext cx="215433" cy="215433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516368" y="2715768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0B1220"/>
          </a:solidFill>
          <a:ln/>
        </p:spPr>
      </p:sp>
      <p:sp>
        <p:nvSpPr>
          <p:cNvPr id="18" name="Text 13"/>
          <p:cNvSpPr/>
          <p:nvPr/>
        </p:nvSpPr>
        <p:spPr>
          <a:xfrm>
            <a:off x="7699248" y="271576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tras firma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66928" y="355701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del proceso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3447288" y="3557016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30168" y="355701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Nula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876288" y="3758184"/>
            <a:ext cx="347472" cy="347472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3" name="Image 3" descr="/home/claude/work/build/icons/FiArrowRightCircle_emera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308" y="3824204"/>
            <a:ext cx="215433" cy="215433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516368" y="3557016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0B1220"/>
          </a:solidFill>
          <a:ln/>
        </p:spPr>
      </p:sp>
      <p:sp>
        <p:nvSpPr>
          <p:cNvPr id="25" name="Text 19"/>
          <p:cNvSpPr/>
          <p:nvPr/>
        </p:nvSpPr>
        <p:spPr>
          <a:xfrm>
            <a:off x="7699248" y="355701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auditada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66928" y="439826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3447288" y="4398264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630168" y="439826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Transcritos a mano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6876288" y="4599432"/>
            <a:ext cx="347472" cy="347472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30" name="Image 4" descr="/home/claude/work/build/icons/FiArrowRightCircle_emera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308" y="4665452"/>
            <a:ext cx="215433" cy="215433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7516368" y="4398264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0B1220"/>
          </a:solidFill>
          <a:ln/>
        </p:spPr>
      </p:sp>
      <p:sp>
        <p:nvSpPr>
          <p:cNvPr id="32" name="Text 25"/>
          <p:cNvSpPr/>
          <p:nvPr/>
        </p:nvSpPr>
        <p:spPr>
          <a:xfrm>
            <a:off x="7699248" y="439826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Automáticos, 10 págs.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66928" y="523951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en campo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3447288" y="5239512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3630168" y="523951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conexión 20+ días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6876288" y="5440680"/>
            <a:ext cx="347472" cy="347472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37" name="Image 5" descr="/home/claude/work/build/icons/FiArrowRightCircle_emera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308" y="5506700"/>
            <a:ext cx="215433" cy="215433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7516368" y="5239512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0B1220"/>
          </a:solidFill>
          <a:ln/>
        </p:spPr>
      </p:sp>
      <p:sp>
        <p:nvSpPr>
          <p:cNvPr id="39" name="Text 31"/>
          <p:cNvSpPr/>
          <p:nvPr/>
        </p:nvSpPr>
        <p:spPr>
          <a:xfrm>
            <a:off x="7699248" y="523951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con sync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uild/medi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3871" y="457200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completo, de punta a punta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66928" y="11704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OT recorre el mismo camino, de la venta a la factura, sin salir de la plataforma.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66928" y="292608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37844" y="3090672"/>
            <a:ext cx="475488" cy="475488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7" name="Image 1" descr="/home/claude/work/build/icons/FiBriefcase_emera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961" y="3204789"/>
            <a:ext cx="247254" cy="2472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" y="3675888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1984248" y="3543300"/>
            <a:ext cx="189433" cy="0"/>
          </a:xfrm>
          <a:prstGeom prst="line">
            <a:avLst/>
          </a:prstGeom>
          <a:noFill/>
          <a:ln w="28575">
            <a:solidFill>
              <a:srgbClr val="00B98C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2173681" y="292608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644597" y="3090672"/>
            <a:ext cx="475488" cy="475488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2" name="Image 2" descr="/home/claude/work/build/icons/FiClipboard_emera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8714" y="3204789"/>
            <a:ext cx="247254" cy="24725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228545" y="3675888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OT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3591001" y="3543300"/>
            <a:ext cx="189433" cy="0"/>
          </a:xfrm>
          <a:prstGeom prst="line">
            <a:avLst/>
          </a:prstGeom>
          <a:noFill/>
          <a:ln w="28575">
            <a:solidFill>
              <a:srgbClr val="00B98C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3780434" y="292608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251350" y="3090672"/>
            <a:ext cx="475488" cy="475488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7" name="Image 3" descr="/home/claude/work/build/icons/FiSettings_emera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5468" y="3204789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35298" y="3675888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197754" y="3543300"/>
            <a:ext cx="189433" cy="0"/>
          </a:xfrm>
          <a:prstGeom prst="line">
            <a:avLst/>
          </a:prstGeom>
          <a:noFill/>
          <a:ln w="28575">
            <a:solidFill>
              <a:srgbClr val="00B98C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5387188" y="292608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858104" y="3090672"/>
            <a:ext cx="475488" cy="475488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2" name="Image 4" descr="/home/claude/work/build/icons/FiTool_emera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2221" y="3204789"/>
            <a:ext cx="247254" cy="24725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42052" y="3675888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EN CAMPO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804508" y="3543300"/>
            <a:ext cx="189433" cy="0"/>
          </a:xfrm>
          <a:prstGeom prst="line">
            <a:avLst/>
          </a:prstGeom>
          <a:noFill/>
          <a:ln w="28575">
            <a:solidFill>
              <a:srgbClr val="00B98C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6993941" y="292608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464857" y="3090672"/>
            <a:ext cx="475488" cy="475488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7" name="Image 5" descr="/home/claude/work/build/icons/FiCheckSquare_emera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8974" y="3204789"/>
            <a:ext cx="247254" cy="24725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48805" y="3675888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8411261" y="3543300"/>
            <a:ext cx="189433" cy="0"/>
          </a:xfrm>
          <a:prstGeom prst="line">
            <a:avLst/>
          </a:prstGeom>
          <a:noFill/>
          <a:ln w="28575">
            <a:solidFill>
              <a:srgbClr val="00B98C"/>
            </a:solidFill>
            <a:prstDash val="solid"/>
            <a:tailEnd type="triangle"/>
          </a:ln>
        </p:spPr>
      </p:sp>
      <p:sp>
        <p:nvSpPr>
          <p:cNvPr id="30" name="Shape 22"/>
          <p:cNvSpPr/>
          <p:nvPr/>
        </p:nvSpPr>
        <p:spPr>
          <a:xfrm>
            <a:off x="8600694" y="292608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9071610" y="3090672"/>
            <a:ext cx="475488" cy="475488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32" name="Image 6" descr="/home/claude/work/build/icons/FiUser_emera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5727" y="3204789"/>
            <a:ext cx="247254" cy="24725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655558" y="3675888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10018014" y="3543300"/>
            <a:ext cx="189433" cy="0"/>
          </a:xfrm>
          <a:prstGeom prst="line">
            <a:avLst/>
          </a:prstGeom>
          <a:noFill/>
          <a:ln w="28575">
            <a:solidFill>
              <a:srgbClr val="00B98C"/>
            </a:solidFill>
            <a:prstDash val="solid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10207447" y="292608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00E6A8"/>
          </a:solidFill>
          <a:ln w="19050">
            <a:solidFill>
              <a:srgbClr val="00E6A8"/>
            </a:solidFill>
            <a:prstDash val="solid"/>
          </a:ln>
          <a:effectLst>
            <a:outerShdw blurRad="76200" dist="25400" dir="5400000" algn="bl" rotWithShape="0">
              <a:srgbClr val="1B2740">
                <a:alpha val="12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10678363" y="3090672"/>
            <a:ext cx="475488" cy="475488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37" name="Image 7" descr="/home/claude/work/build/icons/FiDollarSign_emera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92480" y="3204789"/>
            <a:ext cx="247254" cy="24725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0262311" y="3675888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950" dirty="0"/>
          </a:p>
        </p:txBody>
      </p:sp>
      <p:sp>
        <p:nvSpPr>
          <p:cNvPr id="39" name="Text 29"/>
          <p:cNvSpPr/>
          <p:nvPr/>
        </p:nvSpPr>
        <p:spPr>
          <a:xfrm>
            <a:off x="566928" y="4663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hereda los datos de la anterior: sin reprocesos, sin hojas sueltas, sin reingreso manual.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" name="Image 0" descr="/home/claude/work/build/icons/FiKey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161727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17</a:t>
            </a:r>
            <a:endParaRPr lang="en-US" sz="1050" dirty="0"/>
          </a:p>
        </p:txBody>
      </p:sp>
      <p:pic>
        <p:nvPicPr>
          <p:cNvPr id="6" name="Image 1" descr="/home/claude/work/build/medi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79" y="484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987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seguro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30352" y="1655064"/>
            <a:ext cx="7114032" cy="4473702"/>
          </a:xfrm>
          <a:prstGeom prst="roundRect">
            <a:avLst>
              <a:gd name="adj" fmla="val 1840"/>
            </a:avLst>
          </a:prstGeom>
          <a:solidFill>
            <a:srgbClr val="1B2740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691640"/>
            <a:ext cx="7040880" cy="256032"/>
          </a:xfrm>
          <a:prstGeom prst="roundRect">
            <a:avLst>
              <a:gd name="adj" fmla="val 21429"/>
            </a:avLst>
          </a:prstGeom>
          <a:solidFill>
            <a:srgbClr val="1E2A42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1773936"/>
            <a:ext cx="91440" cy="9144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1773936"/>
            <a:ext cx="91440" cy="91440"/>
          </a:xfrm>
          <a:prstGeom prst="ellipse">
            <a:avLst/>
          </a:prstGeom>
          <a:solidFill>
            <a:srgbClr val="00E6A8"/>
          </a:solidFill>
          <a:ln/>
        </p:spPr>
      </p:sp>
      <p:pic>
        <p:nvPicPr>
          <p:cNvPr id="13" name="Image 2" descr="/home/claude/work/build/media/image-7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7040880" cy="41445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19288" y="1737360"/>
            <a:ext cx="502920" cy="0"/>
          </a:xfrm>
          <a:prstGeom prst="line">
            <a:avLst/>
          </a:prstGeom>
          <a:noFill/>
          <a:ln w="31750">
            <a:solidFill>
              <a:srgbClr val="00E6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19288" y="199339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19288" y="2322576"/>
            <a:ext cx="3605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punto de entrada con autenticación JWT y control de acceso por rol.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19288" y="4014216"/>
            <a:ext cx="497434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19288" y="4014216"/>
            <a:ext cx="4974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644738" y="4014216"/>
            <a:ext cx="577901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644738" y="4014216"/>
            <a:ext cx="5779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" name="Image 0" descr="/home/claude/work/build/icons/FiKey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161727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1050" dirty="0"/>
          </a:p>
        </p:txBody>
      </p:sp>
      <p:pic>
        <p:nvPicPr>
          <p:cNvPr id="6" name="Image 1" descr="/home/claude/work/build/medi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79" y="484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987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en tiempo real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30352" y="1655064"/>
            <a:ext cx="7114032" cy="4473702"/>
          </a:xfrm>
          <a:prstGeom prst="roundRect">
            <a:avLst>
              <a:gd name="adj" fmla="val 1840"/>
            </a:avLst>
          </a:prstGeom>
          <a:solidFill>
            <a:srgbClr val="1B2740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691640"/>
            <a:ext cx="7040880" cy="256032"/>
          </a:xfrm>
          <a:prstGeom prst="roundRect">
            <a:avLst>
              <a:gd name="adj" fmla="val 21429"/>
            </a:avLst>
          </a:prstGeom>
          <a:solidFill>
            <a:srgbClr val="1E2A42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1773936"/>
            <a:ext cx="91440" cy="9144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1773936"/>
            <a:ext cx="91440" cy="91440"/>
          </a:xfrm>
          <a:prstGeom prst="ellipse">
            <a:avLst/>
          </a:prstGeom>
          <a:solidFill>
            <a:srgbClr val="00E6A8"/>
          </a:solidFill>
          <a:ln/>
        </p:spPr>
      </p:sp>
      <p:pic>
        <p:nvPicPr>
          <p:cNvPr id="13" name="Image 2" descr="/home/claude/work/build/media/image-8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7040880" cy="41445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19288" y="1737360"/>
            <a:ext cx="502920" cy="0"/>
          </a:xfrm>
          <a:prstGeom prst="line">
            <a:avLst/>
          </a:prstGeom>
          <a:noFill/>
          <a:ln w="31750">
            <a:solidFill>
              <a:srgbClr val="00E6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19288" y="199339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19288" y="2322576"/>
            <a:ext cx="3605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por rol, pipeline Kanban, alertas SLA, carga de técnicos y Copiloto IA.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19288" y="4014216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19288" y="4014216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886139" y="4014216"/>
            <a:ext cx="416966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886139" y="4014216"/>
            <a:ext cx="4169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" name="Image 0" descr="/home/claude/work/build/icons/FiBriefcase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161727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1050" dirty="0"/>
          </a:p>
        </p:txBody>
      </p:sp>
      <p:pic>
        <p:nvPicPr>
          <p:cNvPr id="6" name="Image 1" descr="/home/claude/work/build/medi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79" y="484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987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Comercial — CRM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30352" y="1655064"/>
            <a:ext cx="7114032" cy="4473702"/>
          </a:xfrm>
          <a:prstGeom prst="roundRect">
            <a:avLst>
              <a:gd name="adj" fmla="val 1840"/>
            </a:avLst>
          </a:prstGeom>
          <a:solidFill>
            <a:srgbClr val="1B2740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691640"/>
            <a:ext cx="7040880" cy="256032"/>
          </a:xfrm>
          <a:prstGeom prst="roundRect">
            <a:avLst>
              <a:gd name="adj" fmla="val 21429"/>
            </a:avLst>
          </a:prstGeom>
          <a:solidFill>
            <a:srgbClr val="1E2A42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1773936"/>
            <a:ext cx="91440" cy="9144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1773936"/>
            <a:ext cx="91440" cy="91440"/>
          </a:xfrm>
          <a:prstGeom prst="ellipse">
            <a:avLst/>
          </a:prstGeom>
          <a:solidFill>
            <a:srgbClr val="00E6A8"/>
          </a:solidFill>
          <a:ln/>
        </p:spPr>
      </p:sp>
      <p:pic>
        <p:nvPicPr>
          <p:cNvPr id="13" name="Image 2" descr="/home/claude/work/build/media/image-9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7040880" cy="41445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19288" y="1737360"/>
            <a:ext cx="502920" cy="0"/>
          </a:xfrm>
          <a:prstGeom prst="line">
            <a:avLst/>
          </a:prstGeom>
          <a:noFill/>
          <a:ln w="31750">
            <a:solidFill>
              <a:srgbClr val="00E6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19288" y="199339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19288" y="2322576"/>
            <a:ext cx="3605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contratos comerciales, adendas y equipos vinculados, todo en un solo lugar.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19288" y="4014216"/>
            <a:ext cx="899770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19288" y="4014216"/>
            <a:ext cx="8997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47074" y="4014216"/>
            <a:ext cx="980237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047074" y="4014216"/>
            <a:ext cx="9802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" name="Image 0" descr="/home/claude/work/build/icons/FiBriefcase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161727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1050" dirty="0"/>
          </a:p>
        </p:txBody>
      </p:sp>
      <p:pic>
        <p:nvPicPr>
          <p:cNvPr id="6" name="Image 1" descr="/home/claude/work/build/medi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79" y="484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987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Contratos comerciales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30352" y="1655064"/>
            <a:ext cx="7114032" cy="4473702"/>
          </a:xfrm>
          <a:prstGeom prst="roundRect">
            <a:avLst>
              <a:gd name="adj" fmla="val 1840"/>
            </a:avLst>
          </a:prstGeom>
          <a:solidFill>
            <a:srgbClr val="1B2740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691640"/>
            <a:ext cx="7040880" cy="256032"/>
          </a:xfrm>
          <a:prstGeom prst="roundRect">
            <a:avLst>
              <a:gd name="adj" fmla="val 21429"/>
            </a:avLst>
          </a:prstGeom>
          <a:solidFill>
            <a:srgbClr val="1E2A42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1773936"/>
            <a:ext cx="91440" cy="9144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1773936"/>
            <a:ext cx="91440" cy="91440"/>
          </a:xfrm>
          <a:prstGeom prst="ellipse">
            <a:avLst/>
          </a:prstGeom>
          <a:solidFill>
            <a:srgbClr val="00E6A8"/>
          </a:solidFill>
          <a:ln/>
        </p:spPr>
      </p:sp>
      <p:pic>
        <p:nvPicPr>
          <p:cNvPr id="13" name="Image 2" descr="/home/claude/work/build/media/image-18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7040880" cy="41445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19288" y="1737360"/>
            <a:ext cx="502920" cy="0"/>
          </a:xfrm>
          <a:prstGeom prst="line">
            <a:avLst/>
          </a:prstGeom>
          <a:noFill/>
          <a:ln w="31750">
            <a:solidFill>
              <a:srgbClr val="00E6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19288" y="199339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19288" y="2322576"/>
            <a:ext cx="3605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contratos con vigencia, responsable, consumo, saldo y estado.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19288" y="4014216"/>
            <a:ext cx="899770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19288" y="4014216"/>
            <a:ext cx="8997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47074" y="4014216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047074" y="401421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" name="Image 0" descr="/home/claude/work/build/icons/FiBriefcase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161727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1050" dirty="0"/>
          </a:p>
        </p:txBody>
      </p:sp>
      <p:pic>
        <p:nvPicPr>
          <p:cNvPr id="6" name="Image 1" descr="/home/claude/work/build/medi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79" y="484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987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del contrato y adendas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30352" y="1655064"/>
            <a:ext cx="7114032" cy="4473702"/>
          </a:xfrm>
          <a:prstGeom prst="roundRect">
            <a:avLst>
              <a:gd name="adj" fmla="val 1840"/>
            </a:avLst>
          </a:prstGeom>
          <a:solidFill>
            <a:srgbClr val="1B2740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691640"/>
            <a:ext cx="7040880" cy="256032"/>
          </a:xfrm>
          <a:prstGeom prst="roundRect">
            <a:avLst>
              <a:gd name="adj" fmla="val 21429"/>
            </a:avLst>
          </a:prstGeom>
          <a:solidFill>
            <a:srgbClr val="1E2A42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1773936"/>
            <a:ext cx="91440" cy="9144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1773936"/>
            <a:ext cx="91440" cy="91440"/>
          </a:xfrm>
          <a:prstGeom prst="ellipse">
            <a:avLst/>
          </a:prstGeom>
          <a:solidFill>
            <a:srgbClr val="00E6A8"/>
          </a:solidFill>
          <a:ln/>
        </p:spPr>
      </p:sp>
      <p:pic>
        <p:nvPicPr>
          <p:cNvPr id="13" name="Image 2" descr="/home/claude/work/build/media/image-19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7040880" cy="41445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19288" y="1737360"/>
            <a:ext cx="502920" cy="0"/>
          </a:xfrm>
          <a:prstGeom prst="line">
            <a:avLst/>
          </a:prstGeom>
          <a:noFill/>
          <a:ln w="31750">
            <a:solidFill>
              <a:srgbClr val="00E6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19288" y="199339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19288" y="2322576"/>
            <a:ext cx="3605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del contrato con historial de ampliaciones que incrementan el presupuesto.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19288" y="4014216"/>
            <a:ext cx="980237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19288" y="4014216"/>
            <a:ext cx="9802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" name="Image 0" descr="/home/claude/work/build/icons/FiBriefcase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161727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1050" dirty="0"/>
          </a:p>
        </p:txBody>
      </p:sp>
      <p:pic>
        <p:nvPicPr>
          <p:cNvPr id="6" name="Image 1" descr="/home/claude/work/build/medi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79" y="484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987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adenda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30352" y="1655064"/>
            <a:ext cx="7114032" cy="4473702"/>
          </a:xfrm>
          <a:prstGeom prst="roundRect">
            <a:avLst>
              <a:gd name="adj" fmla="val 1840"/>
            </a:avLst>
          </a:prstGeom>
          <a:solidFill>
            <a:srgbClr val="1B2740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691640"/>
            <a:ext cx="7040880" cy="256032"/>
          </a:xfrm>
          <a:prstGeom prst="roundRect">
            <a:avLst>
              <a:gd name="adj" fmla="val 21429"/>
            </a:avLst>
          </a:prstGeom>
          <a:solidFill>
            <a:srgbClr val="1E2A42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1773936"/>
            <a:ext cx="91440" cy="9144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1773936"/>
            <a:ext cx="91440" cy="91440"/>
          </a:xfrm>
          <a:prstGeom prst="ellipse">
            <a:avLst/>
          </a:prstGeom>
          <a:solidFill>
            <a:srgbClr val="00E6A8"/>
          </a:solidFill>
          <a:ln/>
        </p:spPr>
      </p:sp>
      <p:pic>
        <p:nvPicPr>
          <p:cNvPr id="13" name="Image 2" descr="/home/claude/work/build/media/image-20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7040880" cy="41445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19288" y="1737360"/>
            <a:ext cx="502920" cy="0"/>
          </a:xfrm>
          <a:prstGeom prst="line">
            <a:avLst/>
          </a:prstGeom>
          <a:noFill/>
          <a:ln w="31750">
            <a:solidFill>
              <a:srgbClr val="00E6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19288" y="199339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19288" y="2322576"/>
            <a:ext cx="3605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para ampliar un contrato: monto, vigencia, comentarios y equipos adicionales.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19288" y="4014216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19288" y="401421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805672" y="4014216"/>
            <a:ext cx="899770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805672" y="4014216"/>
            <a:ext cx="8997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" name="Image 0" descr="/home/claude/work/build/icons/FiClipboard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161727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1050" dirty="0"/>
          </a:p>
        </p:txBody>
      </p:sp>
      <p:pic>
        <p:nvPicPr>
          <p:cNvPr id="6" name="Image 1" descr="/home/claude/work/build/medi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79" y="484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987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OTs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30352" y="1655064"/>
            <a:ext cx="7114032" cy="4473702"/>
          </a:xfrm>
          <a:prstGeom prst="roundRect">
            <a:avLst>
              <a:gd name="adj" fmla="val 1840"/>
            </a:avLst>
          </a:prstGeom>
          <a:solidFill>
            <a:srgbClr val="1B2740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691640"/>
            <a:ext cx="7040880" cy="256032"/>
          </a:xfrm>
          <a:prstGeom prst="roundRect">
            <a:avLst>
              <a:gd name="adj" fmla="val 21429"/>
            </a:avLst>
          </a:prstGeom>
          <a:solidFill>
            <a:srgbClr val="1E2A42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1773936"/>
            <a:ext cx="91440" cy="9144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1773936"/>
            <a:ext cx="91440" cy="91440"/>
          </a:xfrm>
          <a:prstGeom prst="ellipse">
            <a:avLst/>
          </a:prstGeom>
          <a:solidFill>
            <a:srgbClr val="00E6A8"/>
          </a:solidFill>
          <a:ln/>
        </p:spPr>
      </p:sp>
      <p:pic>
        <p:nvPicPr>
          <p:cNvPr id="13" name="Image 2" descr="/home/claude/work/build/media/image-10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7040880" cy="41445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19288" y="1737360"/>
            <a:ext cx="502920" cy="0"/>
          </a:xfrm>
          <a:prstGeom prst="line">
            <a:avLst/>
          </a:prstGeom>
          <a:noFill/>
          <a:ln w="31750">
            <a:solidFill>
              <a:srgbClr val="00E6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19288" y="199339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19288" y="2322576"/>
            <a:ext cx="3605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de trabajo con SLA, vista de tabla y Kanban, con estados configurables.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19288" y="4014216"/>
            <a:ext cx="3605479" cy="566928"/>
          </a:xfrm>
          <a:prstGeom prst="roundRect">
            <a:avLst>
              <a:gd name="adj" fmla="val 12903"/>
            </a:avLst>
          </a:prstGeom>
          <a:solidFill>
            <a:srgbClr val="121B2E"/>
          </a:solidFill>
          <a:ln w="12700">
            <a:solidFill>
              <a:srgbClr val="00E6A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156448" y="4014216"/>
            <a:ext cx="33311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estados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8019288" y="4727448"/>
            <a:ext cx="497434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019288" y="4727448"/>
            <a:ext cx="4974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" name="Image 0" descr="/home/claude/work/build/icons/FiClipboard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161727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1050" dirty="0"/>
          </a:p>
        </p:txBody>
      </p:sp>
      <p:pic>
        <p:nvPicPr>
          <p:cNvPr id="6" name="Image 1" descr="/home/claude/work/build/medi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79" y="484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987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30352" y="1655064"/>
            <a:ext cx="7114032" cy="4473702"/>
          </a:xfrm>
          <a:prstGeom prst="roundRect">
            <a:avLst>
              <a:gd name="adj" fmla="val 1840"/>
            </a:avLst>
          </a:prstGeom>
          <a:solidFill>
            <a:srgbClr val="1B2740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691640"/>
            <a:ext cx="7040880" cy="256032"/>
          </a:xfrm>
          <a:prstGeom prst="roundRect">
            <a:avLst>
              <a:gd name="adj" fmla="val 21429"/>
            </a:avLst>
          </a:prstGeom>
          <a:solidFill>
            <a:srgbClr val="1E2A42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1773936"/>
            <a:ext cx="91440" cy="9144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1773936"/>
            <a:ext cx="91440" cy="91440"/>
          </a:xfrm>
          <a:prstGeom prst="ellipse">
            <a:avLst/>
          </a:prstGeom>
          <a:solidFill>
            <a:srgbClr val="00E6A8"/>
          </a:solidFill>
          <a:ln/>
        </p:spPr>
      </p:sp>
      <p:pic>
        <p:nvPicPr>
          <p:cNvPr id="13" name="Image 2" descr="/home/claude/work/build/media/image-11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7040880" cy="41445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19288" y="1737360"/>
            <a:ext cx="502920" cy="0"/>
          </a:xfrm>
          <a:prstGeom prst="line">
            <a:avLst/>
          </a:prstGeom>
          <a:noFill/>
          <a:ln w="31750">
            <a:solidFill>
              <a:srgbClr val="00E6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19288" y="199339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19288" y="2322576"/>
            <a:ext cx="3605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visitas y monitoreo de técnicos en campo en tiempo real.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19288" y="4014216"/>
            <a:ext cx="1302106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19288" y="4014216"/>
            <a:ext cx="13021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" name="Image 0" descr="/home/claude/work/build/icons/FiClipboard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161727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1050" dirty="0"/>
          </a:p>
        </p:txBody>
      </p:sp>
      <p:pic>
        <p:nvPicPr>
          <p:cNvPr id="6" name="Image 1" descr="/home/claude/work/build/medi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79" y="484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987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 de Equipos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30352" y="1655064"/>
            <a:ext cx="7114032" cy="4473702"/>
          </a:xfrm>
          <a:prstGeom prst="roundRect">
            <a:avLst>
              <a:gd name="adj" fmla="val 1840"/>
            </a:avLst>
          </a:prstGeom>
          <a:solidFill>
            <a:srgbClr val="1B2740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691640"/>
            <a:ext cx="7040880" cy="256032"/>
          </a:xfrm>
          <a:prstGeom prst="roundRect">
            <a:avLst>
              <a:gd name="adj" fmla="val 21429"/>
            </a:avLst>
          </a:prstGeom>
          <a:solidFill>
            <a:srgbClr val="1E2A42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1773936"/>
            <a:ext cx="91440" cy="9144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1773936"/>
            <a:ext cx="91440" cy="91440"/>
          </a:xfrm>
          <a:prstGeom prst="ellipse">
            <a:avLst/>
          </a:prstGeom>
          <a:solidFill>
            <a:srgbClr val="00E6A8"/>
          </a:solidFill>
          <a:ln/>
        </p:spPr>
      </p:sp>
      <p:pic>
        <p:nvPicPr>
          <p:cNvPr id="13" name="Image 2" descr="/home/claude/work/build/media/image-1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7040880" cy="41445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19288" y="1737360"/>
            <a:ext cx="502920" cy="0"/>
          </a:xfrm>
          <a:prstGeom prst="line">
            <a:avLst/>
          </a:prstGeom>
          <a:noFill/>
          <a:ln w="31750">
            <a:solidFill>
              <a:srgbClr val="00E6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19288" y="199339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19288" y="2322576"/>
            <a:ext cx="3605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con historial de servicios y alertas de próximo mantenimiento.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19288" y="4014216"/>
            <a:ext cx="819302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19288" y="4014216"/>
            <a:ext cx="8193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" name="Image 0" descr="/home/claude/work/build/icons/FiTool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161727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50" dirty="0"/>
          </a:p>
        </p:txBody>
      </p:sp>
      <p:pic>
        <p:nvPicPr>
          <p:cNvPr id="6" name="Image 1" descr="/home/claude/work/build/medi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79" y="484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987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del Técnico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30352" y="1655064"/>
            <a:ext cx="7114032" cy="4473702"/>
          </a:xfrm>
          <a:prstGeom prst="roundRect">
            <a:avLst>
              <a:gd name="adj" fmla="val 1840"/>
            </a:avLst>
          </a:prstGeom>
          <a:solidFill>
            <a:srgbClr val="1B2740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691640"/>
            <a:ext cx="7040880" cy="256032"/>
          </a:xfrm>
          <a:prstGeom prst="roundRect">
            <a:avLst>
              <a:gd name="adj" fmla="val 21429"/>
            </a:avLst>
          </a:prstGeom>
          <a:solidFill>
            <a:srgbClr val="1E2A42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1773936"/>
            <a:ext cx="91440" cy="9144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1773936"/>
            <a:ext cx="91440" cy="91440"/>
          </a:xfrm>
          <a:prstGeom prst="ellipse">
            <a:avLst/>
          </a:prstGeom>
          <a:solidFill>
            <a:srgbClr val="00E6A8"/>
          </a:solidFill>
          <a:ln/>
        </p:spPr>
      </p:sp>
      <p:pic>
        <p:nvPicPr>
          <p:cNvPr id="13" name="Image 2" descr="/home/claude/work/build/media/image-13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7040880" cy="41445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19288" y="1737360"/>
            <a:ext cx="502920" cy="0"/>
          </a:xfrm>
          <a:prstGeom prst="line">
            <a:avLst/>
          </a:prstGeom>
          <a:noFill/>
          <a:ln w="31750">
            <a:solidFill>
              <a:srgbClr val="00E6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19288" y="199339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19288" y="2322576"/>
            <a:ext cx="3605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de visitas y wizard de informe técnico paso a paso, con soporte offline.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19288" y="4014216"/>
            <a:ext cx="3605479" cy="566928"/>
          </a:xfrm>
          <a:prstGeom prst="roundRect">
            <a:avLst>
              <a:gd name="adj" fmla="val 12903"/>
            </a:avLst>
          </a:prstGeom>
          <a:solidFill>
            <a:srgbClr val="121B2E"/>
          </a:solidFill>
          <a:ln w="12700">
            <a:solidFill>
              <a:srgbClr val="00E6A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156448" y="4014216"/>
            <a:ext cx="33311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pasos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8019288" y="4727448"/>
            <a:ext cx="819302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019288" y="4727448"/>
            <a:ext cx="8193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" name="Image 0" descr="/home/claude/work/build/icons/FiTool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161727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50" dirty="0"/>
          </a:p>
        </p:txBody>
      </p:sp>
      <p:pic>
        <p:nvPicPr>
          <p:cNvPr id="6" name="Image 1" descr="/home/claude/work/build/medi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79" y="484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987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de Supervisión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30352" y="1655064"/>
            <a:ext cx="7114032" cy="4473702"/>
          </a:xfrm>
          <a:prstGeom prst="roundRect">
            <a:avLst>
              <a:gd name="adj" fmla="val 1840"/>
            </a:avLst>
          </a:prstGeom>
          <a:solidFill>
            <a:srgbClr val="1B2740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691640"/>
            <a:ext cx="7040880" cy="256032"/>
          </a:xfrm>
          <a:prstGeom prst="roundRect">
            <a:avLst>
              <a:gd name="adj" fmla="val 21429"/>
            </a:avLst>
          </a:prstGeom>
          <a:solidFill>
            <a:srgbClr val="1E2A42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1773936"/>
            <a:ext cx="91440" cy="9144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1773936"/>
            <a:ext cx="91440" cy="91440"/>
          </a:xfrm>
          <a:prstGeom prst="ellipse">
            <a:avLst/>
          </a:prstGeom>
          <a:solidFill>
            <a:srgbClr val="00E6A8"/>
          </a:solidFill>
          <a:ln/>
        </p:spPr>
      </p:sp>
      <p:pic>
        <p:nvPicPr>
          <p:cNvPr id="13" name="Image 2" descr="/home/claude/work/build/media/image-14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7040880" cy="41445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19288" y="1737360"/>
            <a:ext cx="502920" cy="0"/>
          </a:xfrm>
          <a:prstGeom prst="line">
            <a:avLst/>
          </a:prstGeom>
          <a:noFill/>
          <a:ln w="31750">
            <a:solidFill>
              <a:srgbClr val="00E6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19288" y="199339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19288" y="2322576"/>
            <a:ext cx="3605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Revisión, aprobación y observación de reportes técnicos con historial completo.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19288" y="4014216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19288" y="401421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" name="Image 0" descr="/home/claude/work/build/icons/FiTool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161727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50" dirty="0"/>
          </a:p>
        </p:txBody>
      </p:sp>
      <p:pic>
        <p:nvPicPr>
          <p:cNvPr id="6" name="Image 1" descr="/home/claude/work/build/medi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79" y="484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987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 técnico — Resumen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30352" y="1655064"/>
            <a:ext cx="7114032" cy="4473702"/>
          </a:xfrm>
          <a:prstGeom prst="roundRect">
            <a:avLst>
              <a:gd name="adj" fmla="val 1840"/>
            </a:avLst>
          </a:prstGeom>
          <a:solidFill>
            <a:srgbClr val="1B2740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691640"/>
            <a:ext cx="7040880" cy="256032"/>
          </a:xfrm>
          <a:prstGeom prst="roundRect">
            <a:avLst>
              <a:gd name="adj" fmla="val 21429"/>
            </a:avLst>
          </a:prstGeom>
          <a:solidFill>
            <a:srgbClr val="1E2A42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1773936"/>
            <a:ext cx="91440" cy="9144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1773936"/>
            <a:ext cx="91440" cy="91440"/>
          </a:xfrm>
          <a:prstGeom prst="ellipse">
            <a:avLst/>
          </a:prstGeom>
          <a:solidFill>
            <a:srgbClr val="00E6A8"/>
          </a:solidFill>
          <a:ln/>
        </p:spPr>
      </p:sp>
      <p:pic>
        <p:nvPicPr>
          <p:cNvPr id="13" name="Image 2" descr="/home/claude/work/build/media/image-21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7040880" cy="41445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19288" y="1737360"/>
            <a:ext cx="502920" cy="0"/>
          </a:xfrm>
          <a:prstGeom prst="line">
            <a:avLst/>
          </a:prstGeom>
          <a:noFill/>
          <a:ln w="31750">
            <a:solidFill>
              <a:srgbClr val="00E6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19288" y="199339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19288" y="2322576"/>
            <a:ext cx="3605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del reporte del técnico con datos, mediciones y evidencias fotográficas.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19288" y="4014216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19288" y="401421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Mediciones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208008" y="4014216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208008" y="401421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" name="Image 0" descr="/home/claude/work/build/icons/FiTool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161727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50" dirty="0"/>
          </a:p>
        </p:txBody>
      </p:sp>
      <p:pic>
        <p:nvPicPr>
          <p:cNvPr id="6" name="Image 1" descr="/home/claude/work/build/medi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79" y="484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987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 técnico — Vista impresa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30352" y="1655064"/>
            <a:ext cx="7114032" cy="4473702"/>
          </a:xfrm>
          <a:prstGeom prst="roundRect">
            <a:avLst>
              <a:gd name="adj" fmla="val 1840"/>
            </a:avLst>
          </a:prstGeom>
          <a:solidFill>
            <a:srgbClr val="1B2740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691640"/>
            <a:ext cx="7040880" cy="256032"/>
          </a:xfrm>
          <a:prstGeom prst="roundRect">
            <a:avLst>
              <a:gd name="adj" fmla="val 21429"/>
            </a:avLst>
          </a:prstGeom>
          <a:solidFill>
            <a:srgbClr val="1E2A42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1773936"/>
            <a:ext cx="91440" cy="9144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1773936"/>
            <a:ext cx="91440" cy="91440"/>
          </a:xfrm>
          <a:prstGeom prst="ellipse">
            <a:avLst/>
          </a:prstGeom>
          <a:solidFill>
            <a:srgbClr val="00E6A8"/>
          </a:solidFill>
          <a:ln/>
        </p:spPr>
      </p:sp>
      <p:pic>
        <p:nvPicPr>
          <p:cNvPr id="13" name="Image 2" descr="/home/claude/work/build/media/image-2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7040880" cy="41445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19288" y="1737360"/>
            <a:ext cx="502920" cy="0"/>
          </a:xfrm>
          <a:prstGeom prst="line">
            <a:avLst/>
          </a:prstGeom>
          <a:noFill/>
          <a:ln w="31750">
            <a:solidFill>
              <a:srgbClr val="00E6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19288" y="199339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19288" y="2322576"/>
            <a:ext cx="3605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Previsualización del documento corporativo, tal como se entrega al cliente.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19288" y="4014216"/>
            <a:ext cx="3605479" cy="566928"/>
          </a:xfrm>
          <a:prstGeom prst="roundRect">
            <a:avLst>
              <a:gd name="adj" fmla="val 12903"/>
            </a:avLst>
          </a:prstGeom>
          <a:solidFill>
            <a:srgbClr val="121B2E"/>
          </a:solidFill>
          <a:ln w="12700">
            <a:solidFill>
              <a:srgbClr val="00E6A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156448" y="4014216"/>
            <a:ext cx="33311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páginas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8019288" y="4727448"/>
            <a:ext cx="899770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019288" y="4727448"/>
            <a:ext cx="8997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" name="Image 0" descr="/home/claude/work/build/icons/FiFlag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161727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50" dirty="0"/>
          </a:p>
        </p:txBody>
      </p:sp>
      <p:pic>
        <p:nvPicPr>
          <p:cNvPr id="6" name="Image 1" descr="/home/claude/work/build/medi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79" y="484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987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del Cliente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30352" y="1655064"/>
            <a:ext cx="7114032" cy="4473702"/>
          </a:xfrm>
          <a:prstGeom prst="roundRect">
            <a:avLst>
              <a:gd name="adj" fmla="val 1840"/>
            </a:avLst>
          </a:prstGeom>
          <a:solidFill>
            <a:srgbClr val="1B2740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691640"/>
            <a:ext cx="7040880" cy="256032"/>
          </a:xfrm>
          <a:prstGeom prst="roundRect">
            <a:avLst>
              <a:gd name="adj" fmla="val 21429"/>
            </a:avLst>
          </a:prstGeom>
          <a:solidFill>
            <a:srgbClr val="1E2A42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1773936"/>
            <a:ext cx="91440" cy="9144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1773936"/>
            <a:ext cx="91440" cy="91440"/>
          </a:xfrm>
          <a:prstGeom prst="ellipse">
            <a:avLst/>
          </a:prstGeom>
          <a:solidFill>
            <a:srgbClr val="00E6A8"/>
          </a:solidFill>
          <a:ln/>
        </p:spPr>
      </p:sp>
      <p:pic>
        <p:nvPicPr>
          <p:cNvPr id="13" name="Image 2" descr="/home/claude/work/build/media/image-16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7040880" cy="41445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19288" y="1737360"/>
            <a:ext cx="502920" cy="0"/>
          </a:xfrm>
          <a:prstGeom prst="line">
            <a:avLst/>
          </a:prstGeom>
          <a:noFill/>
          <a:ln w="31750">
            <a:solidFill>
              <a:srgbClr val="00E6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19288" y="199339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19288" y="2322576"/>
            <a:ext cx="3605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digital de conformidad en canvas multi-touch, sin papel.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19288" y="4014216"/>
            <a:ext cx="1302106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19288" y="4014216"/>
            <a:ext cx="13021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digital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" name="Image 0" descr="/home/claude/work/build/icons/FiFlag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161727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50" dirty="0"/>
          </a:p>
        </p:txBody>
      </p:sp>
      <p:pic>
        <p:nvPicPr>
          <p:cNvPr id="6" name="Image 1" descr="/home/claude/work/build/medi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79" y="484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987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de Ventas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30352" y="1655064"/>
            <a:ext cx="7114032" cy="4473702"/>
          </a:xfrm>
          <a:prstGeom prst="roundRect">
            <a:avLst>
              <a:gd name="adj" fmla="val 1840"/>
            </a:avLst>
          </a:prstGeom>
          <a:solidFill>
            <a:srgbClr val="1B2740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691640"/>
            <a:ext cx="7040880" cy="256032"/>
          </a:xfrm>
          <a:prstGeom prst="roundRect">
            <a:avLst>
              <a:gd name="adj" fmla="val 21429"/>
            </a:avLst>
          </a:prstGeom>
          <a:solidFill>
            <a:srgbClr val="1E2A42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1773936"/>
            <a:ext cx="91440" cy="9144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1773936"/>
            <a:ext cx="91440" cy="91440"/>
          </a:xfrm>
          <a:prstGeom prst="ellipse">
            <a:avLst/>
          </a:prstGeom>
          <a:solidFill>
            <a:srgbClr val="00E6A8"/>
          </a:solidFill>
          <a:ln/>
        </p:spPr>
      </p:sp>
      <p:pic>
        <p:nvPicPr>
          <p:cNvPr id="13" name="Image 2" descr="/home/claude/work/build/media/image-15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7040880" cy="41445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19288" y="1737360"/>
            <a:ext cx="502920" cy="0"/>
          </a:xfrm>
          <a:prstGeom prst="line">
            <a:avLst/>
          </a:prstGeom>
          <a:noFill/>
          <a:ln w="31750">
            <a:solidFill>
              <a:srgbClr val="00E6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19288" y="199339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19288" y="2322576"/>
            <a:ext cx="3605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comercial, facturación y reportes exportables en PDF/DOCX.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19288" y="4014216"/>
            <a:ext cx="1141171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19288" y="4014216"/>
            <a:ext cx="11411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" name="Image 0" descr="/home/claude/work/build/icons/FiFlag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161727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50" dirty="0"/>
          </a:p>
        </p:txBody>
      </p:sp>
      <p:pic>
        <p:nvPicPr>
          <p:cNvPr id="6" name="Image 1" descr="/home/claude/work/build/medi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79" y="484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987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30352" y="1655064"/>
            <a:ext cx="7114032" cy="4473702"/>
          </a:xfrm>
          <a:prstGeom prst="roundRect">
            <a:avLst>
              <a:gd name="adj" fmla="val 1840"/>
            </a:avLst>
          </a:prstGeom>
          <a:solidFill>
            <a:srgbClr val="1B2740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691640"/>
            <a:ext cx="7040880" cy="256032"/>
          </a:xfrm>
          <a:prstGeom prst="roundRect">
            <a:avLst>
              <a:gd name="adj" fmla="val 21429"/>
            </a:avLst>
          </a:prstGeom>
          <a:solidFill>
            <a:srgbClr val="1E2A42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1773936"/>
            <a:ext cx="91440" cy="9144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1773936"/>
            <a:ext cx="91440" cy="91440"/>
          </a:xfrm>
          <a:prstGeom prst="ellipse">
            <a:avLst/>
          </a:prstGeom>
          <a:solidFill>
            <a:srgbClr val="00E6A8"/>
          </a:solidFill>
          <a:ln/>
        </p:spPr>
      </p:sp>
      <p:pic>
        <p:nvPicPr>
          <p:cNvPr id="13" name="Image 2" descr="/home/claude/work/build/media/image-17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7040880" cy="41445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19288" y="1737360"/>
            <a:ext cx="502920" cy="0"/>
          </a:xfrm>
          <a:prstGeom prst="line">
            <a:avLst/>
          </a:prstGeom>
          <a:noFill/>
          <a:ln w="31750">
            <a:solidFill>
              <a:srgbClr val="00E6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19288" y="199339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19288" y="2322576"/>
            <a:ext cx="3605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roles, módulos permitidos por perfil y auditoría de accesos.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19288" y="4014216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19288" y="401421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805672" y="4014216"/>
            <a:ext cx="980237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805672" y="4014216"/>
            <a:ext cx="9802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" name="Image 0" descr="/home/claude/work/build/icons/FiFlag_emera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303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457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161727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50" dirty="0"/>
          </a:p>
        </p:txBody>
      </p:sp>
      <p:pic>
        <p:nvPicPr>
          <p:cNvPr id="6" name="Image 1" descr="/home/claude/work/build/medi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679" y="484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987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Guía interactiva de onboarding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30352" y="1655064"/>
            <a:ext cx="7114032" cy="4473702"/>
          </a:xfrm>
          <a:prstGeom prst="roundRect">
            <a:avLst>
              <a:gd name="adj" fmla="val 1840"/>
            </a:avLst>
          </a:prstGeom>
          <a:solidFill>
            <a:srgbClr val="1B2740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691640"/>
            <a:ext cx="7040880" cy="256032"/>
          </a:xfrm>
          <a:prstGeom prst="roundRect">
            <a:avLst>
              <a:gd name="adj" fmla="val 21429"/>
            </a:avLst>
          </a:prstGeom>
          <a:solidFill>
            <a:srgbClr val="1E2A42"/>
          </a:solidFill>
          <a:ln/>
        </p:spPr>
      </p:sp>
      <p:sp>
        <p:nvSpPr>
          <p:cNvPr id="10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Shape 7"/>
          <p:cNvSpPr/>
          <p:nvPr/>
        </p:nvSpPr>
        <p:spPr>
          <a:xfrm>
            <a:off x="914400" y="1773936"/>
            <a:ext cx="91440" cy="9144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1773936"/>
            <a:ext cx="91440" cy="91440"/>
          </a:xfrm>
          <a:prstGeom prst="ellipse">
            <a:avLst/>
          </a:prstGeom>
          <a:solidFill>
            <a:srgbClr val="00E6A8"/>
          </a:solidFill>
          <a:ln/>
        </p:spPr>
      </p:sp>
      <p:pic>
        <p:nvPicPr>
          <p:cNvPr id="13" name="Image 2" descr="/home/claude/work/build/media/image-23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7040880" cy="414451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19288" y="1737360"/>
            <a:ext cx="502920" cy="0"/>
          </a:xfrm>
          <a:prstGeom prst="line">
            <a:avLst/>
          </a:prstGeom>
          <a:noFill/>
          <a:ln w="31750">
            <a:solidFill>
              <a:srgbClr val="00E6A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19288" y="199339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19288" y="2322576"/>
            <a:ext cx="3605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guiado que resalta paso a paso los módulos del sistema y acelera la adopción de cada nuevo usuario.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19288" y="4014216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19288" y="401421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uild/medi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3871" y="457200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Diferenciales que marcan la diferencia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66928" y="1554480"/>
            <a:ext cx="255117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86384" y="1773936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6" name="Image 1" descr="/home/claude/work/build/icons/FiWifiOff_emera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79" y="1896831"/>
            <a:ext cx="266273" cy="2662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60904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86384" y="242316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86384" y="2816352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continuo sin señal, con sincronización automática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337560" y="1554480"/>
            <a:ext cx="255117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57016" y="1773936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2" name="Image 2" descr="/home/claude/work/build/icons/FiZap_emera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9911" y="1896831"/>
            <a:ext cx="266273" cy="2662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31536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557016" y="242316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inteligente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557016" y="2816352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de 10 pasos validados por potencia kVA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08192" y="1554480"/>
            <a:ext cx="255117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27648" y="1773936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8" name="Image 3" descr="/home/claude/work/build/icons/FiPenTool_emera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0543" y="1896831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02168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327648" y="242316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digital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327648" y="2816352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 del cliente en pizarra multi-touch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878824" y="1554480"/>
            <a:ext cx="255117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098280" y="1773936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4" name="Image 4" descr="/home/claude/work/build/icons/FiFileText_emera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1175" y="1896831"/>
            <a:ext cx="266273" cy="26627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97280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098280" y="242316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 corporativo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098280" y="2816352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10 páginas al formato oficial Mafort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66928" y="3730752"/>
            <a:ext cx="255117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86384" y="3950208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30" name="Image 5" descr="/home/claude/work/build/icons/FiCpu_emera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279" y="4073103"/>
            <a:ext cx="266273" cy="26627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660904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786384" y="4599432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 IA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86384" y="4992624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en lenguaje natural sobre datos reales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3337560" y="3730752"/>
            <a:ext cx="255117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3557016" y="3950208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36" name="Image 6" descr="/home/claude/work/build/icons/FiBell_emera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9911" y="4073103"/>
            <a:ext cx="266273" cy="26627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431536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3557016" y="4599432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automatizado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3557016" y="4992624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tempranas de incumplimiento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6108192" y="3730752"/>
            <a:ext cx="255117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327648" y="3950208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42" name="Image 7" descr="/home/claude/work/build/icons/FiCompass_emera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0543" y="4073103"/>
            <a:ext cx="266273" cy="266273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202168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6327648" y="4599432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interactiva</a:t>
            </a:r>
            <a:endParaRPr lang="en-US" sz="1300" dirty="0"/>
          </a:p>
        </p:txBody>
      </p:sp>
      <p:sp>
        <p:nvSpPr>
          <p:cNvPr id="45" name="Text 35"/>
          <p:cNvSpPr/>
          <p:nvPr/>
        </p:nvSpPr>
        <p:spPr>
          <a:xfrm>
            <a:off x="6327648" y="4992624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guiado que acelera la adopción de cada usuario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8878824" y="3730752"/>
            <a:ext cx="255117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740">
                <a:alpha val="10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9098280" y="3950208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48" name="Image 8" descr="/home/claude/work/build/icons/FiHeadphones_emera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1175" y="4073103"/>
            <a:ext cx="266273" cy="266273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1097280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0" name="Text 39"/>
          <p:cNvSpPr/>
          <p:nvPr/>
        </p:nvSpPr>
        <p:spPr>
          <a:xfrm>
            <a:off x="9098280" y="4599432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VIP</a:t>
            </a:r>
            <a:endParaRPr lang="en-US" sz="1300" dirty="0"/>
          </a:p>
        </p:txBody>
      </p:sp>
      <p:sp>
        <p:nvSpPr>
          <p:cNvPr id="51" name="Text 40"/>
          <p:cNvSpPr/>
          <p:nvPr/>
        </p:nvSpPr>
        <p:spPr>
          <a:xfrm>
            <a:off x="9098280" y="4992624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y acompañamiento en la puesta en marcha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E6A8">
              <a:alpha val="8000"/>
            </a:srgbClr>
          </a:solidFill>
          <a:ln/>
        </p:spPr>
      </p:sp>
      <p:pic>
        <p:nvPicPr>
          <p:cNvPr id="3" name="Image 0" descr="/home/claude/work/build/medi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3871" y="45720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seguridad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1704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Diseñada para escalar con la operación, sin comprometer la seguridad del dato.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6384" y="2185416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8" name="Image 1" descr="/home/claude/work/build/icons/FiSmartphone_emera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29514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6384" y="2788920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· PWA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86384" y="3099816"/>
            <a:ext cx="2807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Instalable en móviles y tablets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813048" y="2766060"/>
            <a:ext cx="659740" cy="0"/>
          </a:xfrm>
          <a:prstGeom prst="line">
            <a:avLst/>
          </a:prstGeom>
          <a:noFill/>
          <a:ln w="28575">
            <a:solidFill>
              <a:srgbClr val="00E6A8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4472788" y="196596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92244" y="2185416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4" name="Image 2" descr="/home/claude/work/build/icons/FiLock_emera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972" y="229514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92244" y="2788920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Auth JWT/RBAC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692244" y="3099816"/>
            <a:ext cx="2807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6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por rol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718908" y="2766060"/>
            <a:ext cx="659740" cy="0"/>
          </a:xfrm>
          <a:prstGeom prst="line">
            <a:avLst/>
          </a:prstGeom>
          <a:noFill/>
          <a:ln w="28575">
            <a:solidFill>
              <a:srgbClr val="00E6A8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8378647" y="196596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00E6A8"/>
          </a:solidFill>
          <a:ln w="12700">
            <a:solidFill>
              <a:srgbClr val="00E6A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598103" y="2185416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0" name="Image 3" descr="/home/claude/work/build/icons/FiCloud_emera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7831" y="2295144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98103" y="2788920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598103" y="3099816"/>
            <a:ext cx="2807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Beanstalk · S3 · RDS PostgreSQL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66928" y="4160520"/>
            <a:ext cx="3503066" cy="1051560"/>
          </a:xfrm>
          <a:prstGeom prst="roundRect">
            <a:avLst>
              <a:gd name="adj" fmla="val 8696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8096" y="4466844"/>
            <a:ext cx="438912" cy="438912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5" name="Image 4" descr="/home/claude/work/build/icons/FiLock_emera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35" y="4572183"/>
            <a:ext cx="228234" cy="22823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53312" y="4160520"/>
            <a:ext cx="254294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cifrados en reposo y en tránsito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44314" y="4160520"/>
            <a:ext cx="3503066" cy="1051560"/>
          </a:xfrm>
          <a:prstGeom prst="roundRect">
            <a:avLst>
              <a:gd name="adj" fmla="val 8696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545482" y="4466844"/>
            <a:ext cx="438912" cy="438912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9" name="Image 5" descr="/home/claude/work/build/icons/FiCode_emera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0821" y="4572183"/>
            <a:ext cx="228234" cy="22823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30698" y="4160520"/>
            <a:ext cx="254294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código (Terraform) y CI/CD automático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21701" y="4160520"/>
            <a:ext cx="3503066" cy="1051560"/>
          </a:xfrm>
          <a:prstGeom prst="roundRect">
            <a:avLst>
              <a:gd name="adj" fmla="val 8696"/>
            </a:avLst>
          </a:prstGeom>
          <a:solidFill>
            <a:srgbClr val="12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322869" y="4466844"/>
            <a:ext cx="438912" cy="438912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33" name="Image 6" descr="/home/claude/work/build/icons/FiShield_emera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8208" y="4572183"/>
            <a:ext cx="228234" cy="22823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908085" y="4160520"/>
            <a:ext cx="254294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con control de acceso por rol (RBAC)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B9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0B122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B1220">
              <a:alpha val="15000"/>
            </a:srgbClr>
          </a:solidFill>
          <a:ln/>
        </p:spPr>
      </p:sp>
      <p:pic>
        <p:nvPicPr>
          <p:cNvPr id="4" name="Image 0" descr="/home/claude/work/build/medi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3871" y="457200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96596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Listos para transformar la operación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278892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3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Agendemos una demostración en vivo y una prueba piloto con tus propios datos.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724248" y="34290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24248" y="34290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demostración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465680" y="452628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work/build/icons/FiSearch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186" y="4644786"/>
            <a:ext cx="256764" cy="2567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49528" y="51480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49528" y="5440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3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Revisamos tu proceso actual y objetivos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848960" y="452628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/home/claude/work/build/icons/FiPlayCircl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7466" y="4644786"/>
            <a:ext cx="256764" cy="2567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32808" y="51480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632808" y="5440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3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guiado con tus casos de uso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232240" y="452628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/home/claude/work/build/icons/FiTrendingUp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0746" y="4644786"/>
            <a:ext cx="256764" cy="2567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16088" y="51480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medible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016088" y="5440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3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con tus propios datos y equipo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66928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Mafort Service S.A.C.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1028</Words>
  <Application>Microsoft Office PowerPoint</Application>
  <PresentationFormat>Panorámica</PresentationFormat>
  <Paragraphs>250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Juan Cordova</cp:lastModifiedBy>
  <cp:revision>2</cp:revision>
  <dcterms:created xsi:type="dcterms:W3CDTF">2026-08-16T16:46:53Z</dcterms:created>
  <dcterms:modified xsi:type="dcterms:W3CDTF">2026-08-16T17:08:59Z</dcterms:modified>
</cp:coreProperties>
</file>