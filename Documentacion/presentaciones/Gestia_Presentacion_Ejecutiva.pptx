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3B3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EB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inteligente de servicios de campo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5486400" cy="0"/>
          </a:xfrm>
          <a:prstGeom prst="line">
            <a:avLst/>
          </a:prstGeom>
          <a:noFill/>
          <a:ln w="25400">
            <a:solidFill>
              <a:srgbClr val="00B59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operación de mantenimiento bajo control total: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ventas, técnicos en campo, SLA y facturación en una sola plataforma.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6035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EB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Mafort Service S.A.C.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</a:rPr>
              <a:t>Agenda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463040" cy="73152"/>
          </a:xfrm>
          <a:prstGeom prst="rect">
            <a:avLst/>
          </a:prstGeom>
          <a:solidFill>
            <a:srgbClr val="00B59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737360"/>
            <a:ext cx="5394960" cy="777240"/>
          </a:xfrm>
          <a:prstGeom prst="roundRect">
            <a:avLst>
              <a:gd name="adj" fmla="val 14118"/>
            </a:avLst>
          </a:prstGeom>
          <a:solidFill>
            <a:srgbClr val="BDEBDC"/>
          </a:solidFill>
          <a:ln w="9525">
            <a:solidFill>
              <a:srgbClr val="00B5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87452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B34"/>
                </a:solidFill>
              </a:rPr>
              <a:t>1.  El desafío operativo actual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92240" y="1737360"/>
            <a:ext cx="5394960" cy="777240"/>
          </a:xfrm>
          <a:prstGeom prst="roundRect">
            <a:avLst>
              <a:gd name="adj" fmla="val 14118"/>
            </a:avLst>
          </a:prstGeom>
          <a:solidFill>
            <a:srgbClr val="F1F5F9"/>
          </a:solidFill>
          <a:ln w="9525">
            <a:solidFill>
              <a:srgbClr val="00B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20840" y="187452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B34"/>
                </a:solidFill>
              </a:rPr>
              <a:t>2.  Gestia de un vistazo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2788920"/>
            <a:ext cx="5394960" cy="777240"/>
          </a:xfrm>
          <a:prstGeom prst="roundRect">
            <a:avLst>
              <a:gd name="adj" fmla="val 14118"/>
            </a:avLst>
          </a:prstGeom>
          <a:solidFill>
            <a:srgbClr val="BDEBDC"/>
          </a:solidFill>
          <a:ln w="9525">
            <a:solidFill>
              <a:srgbClr val="00B5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92608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B34"/>
                </a:solidFill>
              </a:rPr>
              <a:t>3.  Impacto medible — antes y después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92240" y="2788920"/>
            <a:ext cx="5394960" cy="777240"/>
          </a:xfrm>
          <a:prstGeom prst="roundRect">
            <a:avLst>
              <a:gd name="adj" fmla="val 14118"/>
            </a:avLst>
          </a:prstGeom>
          <a:solidFill>
            <a:srgbClr val="F1F5F9"/>
          </a:solidFill>
          <a:ln w="9525">
            <a:solidFill>
              <a:srgbClr val="00B5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20840" y="292608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B34"/>
                </a:solidFill>
              </a:rPr>
              <a:t>4.  El flujo completo de punta a punta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3840480"/>
            <a:ext cx="5394960" cy="777240"/>
          </a:xfrm>
          <a:prstGeom prst="roundRect">
            <a:avLst>
              <a:gd name="adj" fmla="val 14118"/>
            </a:avLst>
          </a:prstGeom>
          <a:solidFill>
            <a:srgbClr val="BDEBDC"/>
          </a:solidFill>
          <a:ln w="9525">
            <a:solidFill>
              <a:srgbClr val="00B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397764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B34"/>
                </a:solidFill>
              </a:rPr>
              <a:t>5.  Recorrido por las pantallas del sistema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92240" y="3840480"/>
            <a:ext cx="5394960" cy="777240"/>
          </a:xfrm>
          <a:prstGeom prst="roundRect">
            <a:avLst>
              <a:gd name="adj" fmla="val 14118"/>
            </a:avLst>
          </a:prstGeom>
          <a:solidFill>
            <a:srgbClr val="F1F5F9"/>
          </a:solidFill>
          <a:ln w="9525">
            <a:solidFill>
              <a:srgbClr val="00B59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20840" y="397764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B34"/>
                </a:solidFill>
              </a:rPr>
              <a:t>6.  Diferenciales competitivos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4892040"/>
            <a:ext cx="5394960" cy="777240"/>
          </a:xfrm>
          <a:prstGeom prst="roundRect">
            <a:avLst>
              <a:gd name="adj" fmla="val 14118"/>
            </a:avLst>
          </a:prstGeom>
          <a:solidFill>
            <a:srgbClr val="BDEBDC"/>
          </a:solidFill>
          <a:ln w="9525">
            <a:solidFill>
              <a:srgbClr val="00B59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50292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B34"/>
                </a:solidFill>
              </a:rPr>
              <a:t>7.  Arquitectura y seguridad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92240" y="4892040"/>
            <a:ext cx="5394960" cy="777240"/>
          </a:xfrm>
          <a:prstGeom prst="roundRect">
            <a:avLst>
              <a:gd name="adj" fmla="val 14118"/>
            </a:avLst>
          </a:prstGeom>
          <a:solidFill>
            <a:srgbClr val="F1F5F9"/>
          </a:solidFill>
          <a:ln w="9525">
            <a:solidFill>
              <a:srgbClr val="00B59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50292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B34"/>
                </a:solidFill>
              </a:rPr>
              <a:t>8.  Siguientes pasos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</a:rPr>
              <a:t>El desafío operativo actual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1280160"/>
            <a:ext cx="237744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600200"/>
            <a:ext cx="292608" cy="3840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62763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Fichas técnicas en papel autocopiativo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8680" y="2286000"/>
            <a:ext cx="292608" cy="3840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31343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Técnicos sin conexión durante 20+ días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2971800"/>
            <a:ext cx="292608" cy="3840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299923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Transcripción manual a Word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68680" y="3657600"/>
            <a:ext cx="292608" cy="3840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68503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Facturación con ~30 días de retraso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68680" y="4343400"/>
            <a:ext cx="292608" cy="3840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437083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Fotos sueltas en celulares del personal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68680" y="5029200"/>
            <a:ext cx="292608" cy="3840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505663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</a:rPr>
              <a:t>Sin trazabilidad ni indicadores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5852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Un proceso 100% manual, sin visibilidad en tiempo real y con dinero atascado en papel.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Gestia de un vistazo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1280160"/>
            <a:ext cx="2377440" cy="73152"/>
          </a:xfrm>
          <a:prstGeom prst="rect">
            <a:avLst/>
          </a:prstGeom>
          <a:solidFill>
            <a:srgbClr val="00B594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664208"/>
            <a:ext cx="237744" cy="237744"/>
          </a:xfrm>
          <a:prstGeom prst="ellipse">
            <a:avLst/>
          </a:prstGeom>
          <a:solidFill>
            <a:srgbClr val="00B594"/>
          </a:solidFill>
          <a:ln/>
        </p:spPr>
      </p:sp>
      <p:sp>
        <p:nvSpPr>
          <p:cNvPr id="5" name="Text 3"/>
          <p:cNvSpPr/>
          <p:nvPr/>
        </p:nvSpPr>
        <p:spPr>
          <a:xfrm>
            <a:off x="1417320" y="160934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DEBDC"/>
                </a:solidFill>
              </a:rPr>
              <a:t>Formularios digitales desde tablet/móvil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2350008"/>
            <a:ext cx="237744" cy="237744"/>
          </a:xfrm>
          <a:prstGeom prst="ellipse">
            <a:avLst/>
          </a:prstGeom>
          <a:solidFill>
            <a:srgbClr val="00B594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29514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DEBDC"/>
                </a:solidFill>
              </a:rPr>
              <a:t>Soporte offline completo con auto-sincronización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3035808"/>
            <a:ext cx="237744" cy="237744"/>
          </a:xfrm>
          <a:prstGeom prst="ellipse">
            <a:avLst/>
          </a:prstGeom>
          <a:solidFill>
            <a:srgbClr val="00B594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98094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DEBDC"/>
                </a:solidFill>
              </a:rPr>
              <a:t>Informes DOCX/PDF automáticos de alta fidelidad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3721608"/>
            <a:ext cx="237744" cy="237744"/>
          </a:xfrm>
          <a:prstGeom prst="ellipse">
            <a:avLst/>
          </a:prstGeom>
          <a:solidFill>
            <a:srgbClr val="00B594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366674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DEBDC"/>
                </a:solidFill>
              </a:rPr>
              <a:t>Flujo campo → revisión → firma → facturación en horas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14400" y="4407408"/>
            <a:ext cx="237744" cy="237744"/>
          </a:xfrm>
          <a:prstGeom prst="ellipse">
            <a:avLst/>
          </a:prstGeom>
          <a:solidFill>
            <a:srgbClr val="00B594"/>
          </a:solidFill>
          <a:ln/>
        </p:spPr>
      </p:sp>
      <p:sp>
        <p:nvSpPr>
          <p:cNvPr id="13" name="Text 11"/>
          <p:cNvSpPr/>
          <p:nvPr/>
        </p:nvSpPr>
        <p:spPr>
          <a:xfrm>
            <a:off x="1417320" y="435254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DEBDC"/>
                </a:solidFill>
              </a:rPr>
              <a:t>Registro fotográfico estructurado por potencia kVA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4400" y="5093208"/>
            <a:ext cx="237744" cy="237744"/>
          </a:xfrm>
          <a:prstGeom prst="ellipse">
            <a:avLst/>
          </a:prstGeom>
          <a:solidFill>
            <a:srgbClr val="00B594"/>
          </a:solidFill>
          <a:ln/>
        </p:spPr>
      </p:sp>
      <p:sp>
        <p:nvSpPr>
          <p:cNvPr id="15" name="Text 13"/>
          <p:cNvSpPr/>
          <p:nvPr/>
        </p:nvSpPr>
        <p:spPr>
          <a:xfrm>
            <a:off x="1417320" y="503834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DEBDC"/>
                </a:solidFill>
              </a:rPr>
              <a:t>KPIs, pipeline Kanban, alertas SLA y Copiloto IA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5852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DEBDC"/>
                </a:solidFill>
              </a:rPr>
              <a:t>Una plataforma única que digitaliza todo el ciclo de vida de la OT.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</a:rPr>
              <a:t>Impacto medible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1280160"/>
            <a:ext cx="2377440" cy="73152"/>
          </a:xfrm>
          <a:prstGeom prst="rect">
            <a:avLst/>
          </a:prstGeom>
          <a:solidFill>
            <a:srgbClr val="00B594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45920"/>
          <a:ext cx="10424160" cy="3840480"/>
        </p:xfrm>
        <a:graphic>
          <a:graphicData uri="http://schemas.openxmlformats.org/drawingml/2006/table">
            <a:tbl>
              <a:tblPr/>
              <a:tblGrid>
                <a:gridCol w="3474720"/>
                <a:gridCol w="3474720"/>
                <a:gridCol w="347472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Métrica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Proceso manual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3B3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Gestia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BD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Ciclo de servicio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 días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3B3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Horas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 de facturación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 días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3B3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Horas tras firma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Trazabilidad del proceso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Nula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3B3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auditada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Transcritos a mano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3B3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Automáticos 10 págs.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Conectividad en campo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conexión 20+ días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3B3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Offline con sync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1F5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</a:rPr>
              <a:t>El flujo completo, de punta a punta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1280160"/>
            <a:ext cx="2926080" cy="73152"/>
          </a:xfrm>
          <a:prstGeom prst="rect">
            <a:avLst/>
          </a:prstGeom>
          <a:solidFill>
            <a:srgbClr val="00B59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1371600" cy="822960"/>
          </a:xfrm>
          <a:prstGeom prst="roundRect">
            <a:avLst>
              <a:gd name="adj" fmla="val 16667"/>
            </a:avLst>
          </a:prstGeom>
          <a:solidFill>
            <a:srgbClr val="BDEBDC"/>
          </a:solidFill>
          <a:ln w="9525">
            <a:solidFill>
              <a:srgbClr val="00B5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402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B34"/>
                </a:solidFill>
              </a:rPr>
              <a:t>VENTAS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194560" y="2514600"/>
            <a:ext cx="201168" cy="0"/>
          </a:xfrm>
          <a:prstGeom prst="line">
            <a:avLst/>
          </a:prstGeom>
          <a:noFill/>
          <a:ln w="19050">
            <a:solidFill>
              <a:srgbClr val="00B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95728" y="3017520"/>
            <a:ext cx="1371600" cy="822960"/>
          </a:xfrm>
          <a:prstGeom prst="roundRect">
            <a:avLst>
              <a:gd name="adj" fmla="val 16667"/>
            </a:avLst>
          </a:prstGeom>
          <a:solidFill>
            <a:srgbClr val="BDEBDC"/>
          </a:solidFill>
          <a:ln w="9525">
            <a:solidFill>
              <a:srgbClr val="00B59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95728" y="31546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B34"/>
                </a:solidFill>
              </a:rPr>
              <a:t>GESTIÓN OT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767328" y="3429000"/>
            <a:ext cx="201168" cy="0"/>
          </a:xfrm>
          <a:prstGeom prst="line">
            <a:avLst/>
          </a:prstGeom>
          <a:noFill/>
          <a:ln w="19050">
            <a:solidFill>
              <a:srgbClr val="00B59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68496" y="2103120"/>
            <a:ext cx="1371600" cy="822960"/>
          </a:xfrm>
          <a:prstGeom prst="roundRect">
            <a:avLst>
              <a:gd name="adj" fmla="val 16667"/>
            </a:avLst>
          </a:prstGeom>
          <a:solidFill>
            <a:srgbClr val="BDEBDC"/>
          </a:solidFill>
          <a:ln w="9525">
            <a:solidFill>
              <a:srgbClr val="00B5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68496" y="22402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B34"/>
                </a:solidFill>
              </a:rPr>
              <a:t>OPERACIONES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340096" y="2514600"/>
            <a:ext cx="201168" cy="0"/>
          </a:xfrm>
          <a:prstGeom prst="line">
            <a:avLst/>
          </a:prstGeom>
          <a:noFill/>
          <a:ln w="19050">
            <a:solidFill>
              <a:srgbClr val="00B59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541264" y="3017520"/>
            <a:ext cx="1371600" cy="822960"/>
          </a:xfrm>
          <a:prstGeom prst="roundRect">
            <a:avLst>
              <a:gd name="adj" fmla="val 16667"/>
            </a:avLst>
          </a:prstGeom>
          <a:solidFill>
            <a:srgbClr val="BDEBDC"/>
          </a:solidFill>
          <a:ln w="9525">
            <a:solidFill>
              <a:srgbClr val="00B5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41264" y="31546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B34"/>
                </a:solidFill>
              </a:rPr>
              <a:t>TÉCNICO EN CAMPO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912864" y="3429000"/>
            <a:ext cx="201168" cy="0"/>
          </a:xfrm>
          <a:prstGeom prst="line">
            <a:avLst/>
          </a:prstGeom>
          <a:noFill/>
          <a:ln w="19050">
            <a:solidFill>
              <a:srgbClr val="00B59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14032" y="2103120"/>
            <a:ext cx="1371600" cy="822960"/>
          </a:xfrm>
          <a:prstGeom prst="roundRect">
            <a:avLst>
              <a:gd name="adj" fmla="val 16667"/>
            </a:avLst>
          </a:prstGeom>
          <a:solidFill>
            <a:srgbClr val="BDEBDC"/>
          </a:solidFill>
          <a:ln w="9525">
            <a:solidFill>
              <a:srgbClr val="00B59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14032" y="22402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B34"/>
                </a:solidFill>
              </a:rPr>
              <a:t>SUPERVISOR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485632" y="2514600"/>
            <a:ext cx="201168" cy="0"/>
          </a:xfrm>
          <a:prstGeom prst="line">
            <a:avLst/>
          </a:prstGeom>
          <a:noFill/>
          <a:ln w="19050">
            <a:solidFill>
              <a:srgbClr val="00B5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86800" y="3017520"/>
            <a:ext cx="1371600" cy="822960"/>
          </a:xfrm>
          <a:prstGeom prst="roundRect">
            <a:avLst>
              <a:gd name="adj" fmla="val 16667"/>
            </a:avLst>
          </a:prstGeom>
          <a:solidFill>
            <a:srgbClr val="00B594"/>
          </a:solidFill>
          <a:ln w="9525">
            <a:solidFill>
              <a:srgbClr val="00B59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0" y="31546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CLIENTE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0058400" y="3429000"/>
            <a:ext cx="201168" cy="0"/>
          </a:xfrm>
          <a:prstGeom prst="line">
            <a:avLst/>
          </a:prstGeom>
          <a:noFill/>
          <a:ln w="19050">
            <a:solidFill>
              <a:srgbClr val="00B59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59568" y="2103120"/>
            <a:ext cx="1371600" cy="822960"/>
          </a:xfrm>
          <a:prstGeom prst="roundRect">
            <a:avLst>
              <a:gd name="adj" fmla="val 16667"/>
            </a:avLst>
          </a:prstGeom>
          <a:solidFill>
            <a:srgbClr val="BDEBDC"/>
          </a:solidFill>
          <a:ln w="9525">
            <a:solidFill>
              <a:srgbClr val="00B59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259568" y="22402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B34"/>
                </a:solidFill>
              </a:rPr>
              <a:t>FACTURACIÓN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B3B3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Gestia · Acceso seguro</a:t>
            </a:r>
            <a:endParaRPr lang="en-US" sz="1800" dirty="0"/>
          </a:p>
        </p:txBody>
      </p:sp>
      <p:pic>
        <p:nvPicPr>
          <p:cNvPr id="4" name="Image 0" descr="C:\Informes Mafort IA\Documentacion\presentaciones\capturas\00-log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097280"/>
            <a:ext cx="8869680" cy="5486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555480" y="1097280"/>
            <a:ext cx="228600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00B59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0" y="13258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B34"/>
                </a:solidFill>
              </a:rPr>
              <a:t>Valor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784080" y="1828800"/>
            <a:ext cx="1828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Un único punto de entrada con autenticación JWT y control por rol.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B3B3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Gestia · Dashboard en tiempo real</a:t>
            </a:r>
            <a:endParaRPr lang="en-US" sz="1800" dirty="0"/>
          </a:p>
        </p:txBody>
      </p:sp>
      <p:pic>
        <p:nvPicPr>
          <p:cNvPr id="4" name="Image 0" descr="C:\Informes Mafort IA\Documentacion\presentaciones\capturas\01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097280"/>
            <a:ext cx="8869680" cy="5486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555480" y="1097280"/>
            <a:ext cx="228600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00B59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0" y="13258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B34"/>
                </a:solidFill>
              </a:rPr>
              <a:t>Valor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784080" y="1828800"/>
            <a:ext cx="1828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KPIs por rol, pipeline Kanban, alertas SLA, carga de técnicos y Copiloto IA.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B3B3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Gestia · Comercial — CRM</a:t>
            </a:r>
            <a:endParaRPr lang="en-US" sz="1800" dirty="0"/>
          </a:p>
        </p:txBody>
      </p:sp>
      <p:pic>
        <p:nvPicPr>
          <p:cNvPr id="4" name="Image 0" descr="C:\Informes Mafort IA\Documentacion\presentaciones\capturas\02-comercial-c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097280"/>
            <a:ext cx="8869680" cy="5486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555480" y="1097280"/>
            <a:ext cx="228600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00B59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0" y="13258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B34"/>
                </a:solidFill>
              </a:rPr>
              <a:t>Valor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784080" y="1828800"/>
            <a:ext cx="1828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Clientes, contratos comerciales, adendas y equipos vinculados.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B3B3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Gestia · Gestión de OTs</a:t>
            </a:r>
            <a:endParaRPr lang="en-US" sz="1800" dirty="0"/>
          </a:p>
        </p:txBody>
      </p:sp>
      <p:pic>
        <p:nvPicPr>
          <p:cNvPr id="4" name="Image 0" descr="C:\Informes Mafort IA\Documentacion\presentaciones\capturas\03-gestion-o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097280"/>
            <a:ext cx="8869680" cy="5486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555480" y="1097280"/>
            <a:ext cx="228600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00B59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0" y="13258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B34"/>
                </a:solidFill>
              </a:rPr>
              <a:t>Valor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784080" y="1828800"/>
            <a:ext cx="1828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Órdenes de trabajo con SLA, 10 estados, vista tabla y Kanban.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B3B3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Gestia · Operaciones</a:t>
            </a:r>
            <a:endParaRPr lang="en-US" sz="1800" dirty="0"/>
          </a:p>
        </p:txBody>
      </p:sp>
      <p:pic>
        <p:nvPicPr>
          <p:cNvPr id="4" name="Image 0" descr="C:\Informes Mafort IA\Documentacion\presentaciones\capturas\04-operacion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097280"/>
            <a:ext cx="8869680" cy="5486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555480" y="1097280"/>
            <a:ext cx="228600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00B59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0" y="13258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B34"/>
                </a:solidFill>
              </a:rPr>
              <a:t>Valor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784080" y="1828800"/>
            <a:ext cx="1828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Planificación de visitas y monitoreo de técnicos en campo.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B3B3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Gestia · Inventario de Equipos</a:t>
            </a:r>
            <a:endParaRPr lang="en-US" sz="1800" dirty="0"/>
          </a:p>
        </p:txBody>
      </p:sp>
      <p:pic>
        <p:nvPicPr>
          <p:cNvPr id="4" name="Image 0" descr="C:\Informes Mafort IA\Documentacion\presentaciones\capturas\05-inventario-equipo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097280"/>
            <a:ext cx="8869680" cy="5486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555480" y="1097280"/>
            <a:ext cx="228600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00B59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0" y="13258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B34"/>
                </a:solidFill>
              </a:rPr>
              <a:t>Valor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784080" y="1828800"/>
            <a:ext cx="1828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Catálogo con historial de servicios y alertas de próximo mantenimiento.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B3B3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Gestia · Portal del Técnico</a:t>
            </a:r>
            <a:endParaRPr lang="en-US" sz="1800" dirty="0"/>
          </a:p>
        </p:txBody>
      </p:sp>
      <p:pic>
        <p:nvPicPr>
          <p:cNvPr id="4" name="Image 0" descr="C:\Informes Mafort IA\Documentacion\presentaciones\capturas\06-tecnico-camp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097280"/>
            <a:ext cx="8869680" cy="5486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555480" y="1097280"/>
            <a:ext cx="228600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00B59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0" y="13258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B34"/>
                </a:solidFill>
              </a:rPr>
              <a:t>Valor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784080" y="1828800"/>
            <a:ext cx="1828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Bandeja de visitas y wizard de informe técnico de 10 pasos, offline.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B3B3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Gestia · Portal de Supervisión</a:t>
            </a:r>
            <a:endParaRPr lang="en-US" sz="1800" dirty="0"/>
          </a:p>
        </p:txBody>
      </p:sp>
      <p:pic>
        <p:nvPicPr>
          <p:cNvPr id="4" name="Image 0" descr="C:\Informes Mafort IA\Documentacion\presentaciones\capturas\07-supervis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097280"/>
            <a:ext cx="8869680" cy="5486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555480" y="1097280"/>
            <a:ext cx="228600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00B59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0" y="13258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B34"/>
                </a:solidFill>
              </a:rPr>
              <a:t>Valor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784080" y="1828800"/>
            <a:ext cx="1828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Revisión, aprobación y observación de reportes con historial.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B3B3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Gestia · Portal de Ventas</a:t>
            </a:r>
            <a:endParaRPr lang="en-US" sz="1800" dirty="0"/>
          </a:p>
        </p:txBody>
      </p:sp>
      <p:pic>
        <p:nvPicPr>
          <p:cNvPr id="4" name="Image 0" descr="C:\Informes Mafort IA\Documentacion\presentaciones\capturas\08-portal-venta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097280"/>
            <a:ext cx="8869680" cy="5486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555480" y="1097280"/>
            <a:ext cx="228600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00B59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0" y="13258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B34"/>
                </a:solidFill>
              </a:rPr>
              <a:t>Valor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784080" y="1828800"/>
            <a:ext cx="1828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Seguimiento comercial, facturación y reportes PDF/DOCX.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B3B3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Gestia · Portal del Cliente</a:t>
            </a:r>
            <a:endParaRPr lang="en-US" sz="1800" dirty="0"/>
          </a:p>
        </p:txBody>
      </p:sp>
      <p:pic>
        <p:nvPicPr>
          <p:cNvPr id="4" name="Image 0" descr="C:\Informes Mafort IA\Documentacion\presentaciones\capturas\09-portal-clien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097280"/>
            <a:ext cx="8869680" cy="5486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555480" y="1097280"/>
            <a:ext cx="228600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00B59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0" y="13258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B34"/>
                </a:solidFill>
              </a:rPr>
              <a:t>Valor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784080" y="1828800"/>
            <a:ext cx="1828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Firma digital de conformidad en canvas multi-touch.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B3B3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Gestia · Administración</a:t>
            </a:r>
            <a:endParaRPr lang="en-US" sz="1800" dirty="0"/>
          </a:p>
        </p:txBody>
      </p:sp>
      <p:pic>
        <p:nvPicPr>
          <p:cNvPr id="4" name="Image 0" descr="C:\Informes Mafort IA\Documentacion\presentaciones\capturas\10-administrac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097280"/>
            <a:ext cx="8869680" cy="5486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555480" y="1097280"/>
            <a:ext cx="2286000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00B59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0" y="13258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B34"/>
                </a:solidFill>
              </a:rPr>
              <a:t>Valor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784080" y="1828800"/>
            <a:ext cx="1828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Usuarios, roles, módulos permitidos y auditoría.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</a:rPr>
              <a:t>Diferenciales que marcan la diferencia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1280160"/>
            <a:ext cx="2743200" cy="73152"/>
          </a:xfrm>
          <a:prstGeom prst="rect">
            <a:avLst/>
          </a:prstGeom>
          <a:solidFill>
            <a:srgbClr val="00B59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737360"/>
            <a:ext cx="3474720" cy="18288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BDEB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1965960"/>
            <a:ext cx="457200" cy="457200"/>
          </a:xfrm>
          <a:prstGeom prst="ellipse">
            <a:avLst/>
          </a:prstGeom>
          <a:solidFill>
            <a:srgbClr val="00B594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993392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91640" y="1965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4"/>
                </a:solidFill>
              </a:rPr>
              <a:t>100% Offline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25146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Trabajo continuo sin señal, con sync automático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26280" y="1737360"/>
            <a:ext cx="3474720" cy="18288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BDEB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1965960"/>
            <a:ext cx="457200" cy="457200"/>
          </a:xfrm>
          <a:prstGeom prst="ellipse">
            <a:avLst/>
          </a:prstGeom>
          <a:solidFill>
            <a:srgbClr val="00B594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993392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94960" y="1965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4"/>
                </a:solidFill>
              </a:rPr>
              <a:t>Wizard inteligente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00600" y="25146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Informes de 10 pasos validados por potencia kVA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0" y="1737360"/>
            <a:ext cx="3474720" cy="18288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BDEB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03920" y="1965960"/>
            <a:ext cx="457200" cy="457200"/>
          </a:xfrm>
          <a:prstGeom prst="ellipse">
            <a:avLst/>
          </a:prstGeom>
          <a:solidFill>
            <a:srgbClr val="00B594"/>
          </a:solidFill>
          <a:ln/>
        </p:spPr>
      </p:sp>
      <p:sp>
        <p:nvSpPr>
          <p:cNvPr id="16" name="Text 14"/>
          <p:cNvSpPr/>
          <p:nvPr/>
        </p:nvSpPr>
        <p:spPr>
          <a:xfrm>
            <a:off x="8503920" y="1993392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098280" y="1965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4"/>
                </a:solidFill>
              </a:rPr>
              <a:t>Firma digital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03920" y="25146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Conformidad del cliente en pizarra multi-touch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2960" y="3840480"/>
            <a:ext cx="3474720" cy="18288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BDEB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97280" y="4069080"/>
            <a:ext cx="457200" cy="457200"/>
          </a:xfrm>
          <a:prstGeom prst="ellipse">
            <a:avLst/>
          </a:prstGeom>
          <a:solidFill>
            <a:srgbClr val="00B594"/>
          </a:solidFill>
          <a:ln/>
        </p:spPr>
      </p:sp>
      <p:sp>
        <p:nvSpPr>
          <p:cNvPr id="21" name="Text 19"/>
          <p:cNvSpPr/>
          <p:nvPr/>
        </p:nvSpPr>
        <p:spPr>
          <a:xfrm>
            <a:off x="1097280" y="4096512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691640" y="40690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4"/>
                </a:solidFill>
              </a:rPr>
              <a:t>PDF/DOCX corporativo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461772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Documento de 10 páginas al formato oficial Mafort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26280" y="3840480"/>
            <a:ext cx="3474720" cy="18288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BDEB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0600" y="4069080"/>
            <a:ext cx="457200" cy="457200"/>
          </a:xfrm>
          <a:prstGeom prst="ellipse">
            <a:avLst/>
          </a:prstGeom>
          <a:solidFill>
            <a:srgbClr val="00B594"/>
          </a:solidFill>
          <a:ln/>
        </p:spPr>
      </p:sp>
      <p:sp>
        <p:nvSpPr>
          <p:cNvPr id="26" name="Text 24"/>
          <p:cNvSpPr/>
          <p:nvPr/>
        </p:nvSpPr>
        <p:spPr>
          <a:xfrm>
            <a:off x="4800600" y="4096512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394960" y="40690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4"/>
                </a:solidFill>
              </a:rPr>
              <a:t>Copiloto IA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800600" y="461772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Consultas en lenguaje natural sobre datos reales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29600" y="3840480"/>
            <a:ext cx="3474720" cy="18288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BDEB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03920" y="4069080"/>
            <a:ext cx="457200" cy="457200"/>
          </a:xfrm>
          <a:prstGeom prst="ellipse">
            <a:avLst/>
          </a:prstGeom>
          <a:solidFill>
            <a:srgbClr val="00B594"/>
          </a:solidFill>
          <a:ln/>
        </p:spPr>
      </p:sp>
      <p:sp>
        <p:nvSpPr>
          <p:cNvPr id="31" name="Text 29"/>
          <p:cNvSpPr/>
          <p:nvPr/>
        </p:nvSpPr>
        <p:spPr>
          <a:xfrm>
            <a:off x="8503920" y="4096512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098280" y="40690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4"/>
                </a:solidFill>
              </a:rPr>
              <a:t>SLA automatizado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503920" y="461772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Alertas tempranas de incumplimiento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B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Arquitectura y seguridad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1280160"/>
            <a:ext cx="2743200" cy="73152"/>
          </a:xfrm>
          <a:prstGeom prst="rect">
            <a:avLst/>
          </a:prstGeom>
          <a:solidFill>
            <a:srgbClr val="00B594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691640"/>
            <a:ext cx="219456" cy="219456"/>
          </a:xfrm>
          <a:prstGeom prst="ellipse">
            <a:avLst/>
          </a:prstGeom>
          <a:solidFill>
            <a:srgbClr val="00B594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627632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DEBDC"/>
                </a:solidFill>
              </a:rPr>
              <a:t>Cloud AWS: Elastic Beanstalk + S3 + RDS PostgreSQL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2423160"/>
            <a:ext cx="219456" cy="219456"/>
          </a:xfrm>
          <a:prstGeom prst="ellipse">
            <a:avLst/>
          </a:prstGeom>
          <a:solidFill>
            <a:srgbClr val="00B594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359152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DEBDC"/>
                </a:solidFill>
              </a:rPr>
              <a:t>Autenticación JWT con control de acceso por rol (RBAC)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3154680"/>
            <a:ext cx="219456" cy="219456"/>
          </a:xfrm>
          <a:prstGeom prst="ellipse">
            <a:avLst/>
          </a:prstGeom>
          <a:solidFill>
            <a:srgbClr val="00B594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3090672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DEBDC"/>
                </a:solidFill>
              </a:rPr>
              <a:t>Datos cifrados en reposo y en tránsito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3886200"/>
            <a:ext cx="219456" cy="219456"/>
          </a:xfrm>
          <a:prstGeom prst="ellipse">
            <a:avLst/>
          </a:prstGeom>
          <a:solidFill>
            <a:srgbClr val="00B594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822192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DEBDC"/>
                </a:solidFill>
              </a:rPr>
              <a:t>PWA instalable en móviles y tablets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14400" y="4617720"/>
            <a:ext cx="219456" cy="219456"/>
          </a:xfrm>
          <a:prstGeom prst="ellipse">
            <a:avLst/>
          </a:prstGeom>
          <a:solidFill>
            <a:srgbClr val="00B594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4553712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DEBDC"/>
                </a:solidFill>
              </a:rPr>
              <a:t>Infraestructura como código (Terraform) y CI/CD automático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B5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Listos para transformar la operación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828800" y="3108960"/>
            <a:ext cx="8503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Agendemos una demostración en vivo y una prueba piloto con tus propios datos.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389120" y="4114800"/>
            <a:ext cx="3383280" cy="77724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4389120" y="4279392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B34"/>
                </a:solidFill>
              </a:rPr>
              <a:t>Solicitar demostración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806A"/>
                </a:solidFill>
              </a:rPr>
              <a:t>Mafort Service S.A.C.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Mafort Service S.A.C.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Gestia — Presentación Ejecutiva</dc:title>
  <dc:subject>PptxGenJS Presentation</dc:subject>
  <dc:creator>Mafort Service S.A.C.</dc:creator>
  <cp:lastModifiedBy>Mafort Service S.A.C.</cp:lastModifiedBy>
  <cp:revision>1</cp:revision>
  <dcterms:created xsi:type="dcterms:W3CDTF">2026-08-16T01:09:09Z</dcterms:created>
  <dcterms:modified xsi:type="dcterms:W3CDTF">2026-08-16T01:09:09Z</dcterms:modified>
</cp:coreProperties>
</file>